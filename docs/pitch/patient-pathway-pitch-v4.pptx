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c7e7bfe9354d60" /><Relationship Type="http://schemas.openxmlformats.org/officeDocument/2006/relationships/extended-properties" Target="/docProps/app.xml" Id="R00cad5605aac488f" /><Relationship Type="http://schemas.openxmlformats.org/officeDocument/2006/relationships/officeDocument" Target="/ppt/presentation.xml" Id="R10d5486a9aba4e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e6ca4592324342"/>
  </p:sldMasterIdLst>
  <p:notesMasterIdLst>
    <p:notesMasterId xmlns:r="http://schemas.openxmlformats.org/officeDocument/2006/relationships" r:id="R729a419233424c99"/>
  </p:notesMasterIdLst>
  <p:sldIdLst>
    <p:sldId xmlns:r="http://schemas.openxmlformats.org/officeDocument/2006/relationships" id="256" r:id="Refff0dd292824c27"/>
    <p:sldId xmlns:r="http://schemas.openxmlformats.org/officeDocument/2006/relationships" id="257" r:id="Rc75410fc00b54495"/>
    <p:sldId xmlns:r="http://schemas.openxmlformats.org/officeDocument/2006/relationships" id="258" r:id="R8ee6540c72ba4460"/>
    <p:sldId xmlns:r="http://schemas.openxmlformats.org/officeDocument/2006/relationships" id="259" r:id="R8cab83f4b2d545a7"/>
    <p:sldId xmlns:r="http://schemas.openxmlformats.org/officeDocument/2006/relationships" id="260" r:id="R1af6ab5f5f40486b"/>
    <p:sldId xmlns:r="http://schemas.openxmlformats.org/officeDocument/2006/relationships" id="261" r:id="R0ff08d8f1e9845bf"/>
    <p:sldId xmlns:r="http://schemas.openxmlformats.org/officeDocument/2006/relationships" id="262" r:id="R7076473dd58841b8"/>
    <p:sldId xmlns:r="http://schemas.openxmlformats.org/officeDocument/2006/relationships" id="263" r:id="R974c4bcf3e8044d8"/>
    <p:sldId xmlns:r="http://schemas.openxmlformats.org/officeDocument/2006/relationships" id="264" r:id="Re82874f1f3804259"/>
    <p:sldId xmlns:r="http://schemas.openxmlformats.org/officeDocument/2006/relationships" id="265" r:id="R5e5b48259e6e432c"/>
    <p:sldId xmlns:r="http://schemas.openxmlformats.org/officeDocument/2006/relationships" id="266" r:id="Rf20146e5931a4763"/>
    <p:sldId xmlns:r="http://schemas.openxmlformats.org/officeDocument/2006/relationships" id="267" r:id="R977a6e1e943b4576"/>
    <p:sldId xmlns:r="http://schemas.openxmlformats.org/officeDocument/2006/relationships" id="268" r:id="Rcf57ea37a39047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642f650bc4b9f" /><Relationship Type="http://schemas.openxmlformats.org/officeDocument/2006/relationships/slideMaster" Target="/ppt/slideMasters/slideMaster1.xml" Id="R80e6ca4592324342" /><Relationship Type="http://schemas.openxmlformats.org/officeDocument/2006/relationships/notesMaster" Target="/ppt/notesMasters/notesMaster1.xml" Id="R729a419233424c99" /><Relationship Type="http://schemas.openxmlformats.org/officeDocument/2006/relationships/presProps" Target="/ppt/presProps.xml" Id="Re442b50466cd4337" /><Relationship Type="http://schemas.openxmlformats.org/officeDocument/2006/relationships/tableStyles" Target="/ppt/tableStyles.xml" Id="R420c05166d004ace" /><Relationship Type="http://schemas.openxmlformats.org/officeDocument/2006/relationships/slide" Target="/ppt/slides/slide1.xml" Id="Refff0dd292824c27" /><Relationship Type="http://schemas.openxmlformats.org/officeDocument/2006/relationships/slide" Target="/ppt/slides/slide2.xml" Id="Rc75410fc00b54495" /><Relationship Type="http://schemas.openxmlformats.org/officeDocument/2006/relationships/slide" Target="/ppt/slides/slide3.xml" Id="R8ee6540c72ba4460" /><Relationship Type="http://schemas.openxmlformats.org/officeDocument/2006/relationships/slide" Target="/ppt/slides/slide4.xml" Id="R8cab83f4b2d545a7" /><Relationship Type="http://schemas.openxmlformats.org/officeDocument/2006/relationships/slide" Target="/ppt/slides/slide5.xml" Id="R1af6ab5f5f40486b" /><Relationship Type="http://schemas.openxmlformats.org/officeDocument/2006/relationships/slide" Target="/ppt/slides/slide6.xml" Id="R0ff08d8f1e9845bf" /><Relationship Type="http://schemas.openxmlformats.org/officeDocument/2006/relationships/slide" Target="/ppt/slides/slide7.xml" Id="R7076473dd58841b8" /><Relationship Type="http://schemas.openxmlformats.org/officeDocument/2006/relationships/slide" Target="/ppt/slides/slide8.xml" Id="R974c4bcf3e8044d8" /><Relationship Type="http://schemas.openxmlformats.org/officeDocument/2006/relationships/slide" Target="/ppt/slides/slide9.xml" Id="Re82874f1f3804259" /><Relationship Type="http://schemas.openxmlformats.org/officeDocument/2006/relationships/slide" Target="/ppt/slides/slide10.xml" Id="R5e5b48259e6e432c" /><Relationship Type="http://schemas.openxmlformats.org/officeDocument/2006/relationships/slide" Target="/ppt/slides/slide11.xml" Id="Rf20146e5931a4763" /><Relationship Type="http://schemas.openxmlformats.org/officeDocument/2006/relationships/slide" Target="/ppt/slides/slide12.xml" Id="R977a6e1e943b4576" /><Relationship Type="http://schemas.openxmlformats.org/officeDocument/2006/relationships/slide" Target="/ppt/slides/slide13.xml" Id="Rcf57ea37a39047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2a83a6ea31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576a6100424f69" /><Relationship Type="http://schemas.openxmlformats.org/officeDocument/2006/relationships/notesMaster" Target="/ppt/notesMasters/notesMaster1.xml" Id="R76b9e60799bd4f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3a74c0129f4625" /><Relationship Type="http://schemas.openxmlformats.org/officeDocument/2006/relationships/notesMaster" Target="/ppt/notesMasters/notesMaster1.xml" Id="R0e062b3bb46c49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d859ed31474095" /><Relationship Type="http://schemas.openxmlformats.org/officeDocument/2006/relationships/notesMaster" Target="/ppt/notesMasters/notesMaster1.xml" Id="R2d4ccc28df1a47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ff8694dade4259" /><Relationship Type="http://schemas.openxmlformats.org/officeDocument/2006/relationships/notesMaster" Target="/ppt/notesMasters/notesMaster1.xml" Id="R907cfa29590947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ab073827a14d04" /><Relationship Type="http://schemas.openxmlformats.org/officeDocument/2006/relationships/notesMaster" Target="/ppt/notesMasters/notesMaster1.xml" Id="R185012a807eb4d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6beb411a30445a" /><Relationship Type="http://schemas.openxmlformats.org/officeDocument/2006/relationships/notesMaster" Target="/ppt/notesMasters/notesMaster1.xml" Id="Rf6268689534d45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e05686d5904a75" /><Relationship Type="http://schemas.openxmlformats.org/officeDocument/2006/relationships/notesMaster" Target="/ppt/notesMasters/notesMaster1.xml" Id="R674d64e373764e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d86df4e0d94d15" /><Relationship Type="http://schemas.openxmlformats.org/officeDocument/2006/relationships/notesMaster" Target="/ppt/notesMasters/notesMaster1.xml" Id="R6ba51e5075e248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11a2d96dff4bc4" /><Relationship Type="http://schemas.openxmlformats.org/officeDocument/2006/relationships/notesMaster" Target="/ppt/notesMasters/notesMaster1.xml" Id="Rf66a5af868a94d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b08c90220b41ef" /><Relationship Type="http://schemas.openxmlformats.org/officeDocument/2006/relationships/notesMaster" Target="/ppt/notesMasters/notesMaster1.xml" Id="R2c25263166ca4b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9712708b884737" /><Relationship Type="http://schemas.openxmlformats.org/officeDocument/2006/relationships/notesMaster" Target="/ppt/notesMasters/notesMaster1.xml" Id="R181a9c8c38fe4f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fc306de044487c" /><Relationship Type="http://schemas.openxmlformats.org/officeDocument/2006/relationships/notesMaster" Target="/ppt/notesMasters/notesMaster1.xml" Id="Rd3b1f2b091014e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7bc89a87704aaa" /><Relationship Type="http://schemas.openxmlformats.org/officeDocument/2006/relationships/notesMaster" Target="/ppt/notesMasters/notesMaster1.xml" Id="R2b828276ffdf42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кейс пользователя: страницы 1–3 PDF «Кейс_Третье_мнение.pdf». Продуктовая формулировка и статус: docs/architecture.md, docs/implementation-status.md. Реальный uplift не измерен.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«Третье Мнение» о DICOM SR: https://thirdopinion.ai/mmg. Систематический обзор 19 исследований: 1.0–35.7% радиологических результатов без последующего наблюдения, разные условия и определения: https://pubmed.ncbi.nlm.nih.gov/22183961/. РКИ по просроченным аномальным скринингам, 11 980 пациентов: 22.9% usual care, 31.4% outreach+navigation за 120 дней; 8.5 п.п. скорректированная разница: https://pubmed.ncbi.nlm.nih.gov/37815566/. Нельзя переносить эти доли на конкретную клинику или обещать такую эффективность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Принятое продуктовое решение: docs/architecture.md и docs/model-routing.md. В синтетическом прототипе работают оба контура и CatBoost, обученный воспроизводить матрицу; клиническая эффективность не подтверждена. По предоставленному БФТ поля JSON/SR структурированы, поэтому NLP в текущем пути не применяется.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код: backend/app/domain/model_routing.py и scripts/train_route_model.py. Обучение повторяет 76 синтетических комбинаций старой матрицы, независимая клиническая оценка отсутствует. CatBoost поддерживает числовые и категориальные признаки: https://catboost.ai/docs/en/features/categorical-features. Архитектура: docs/model-routing.md.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перечень реализованных или запланированных механизмов Patient pathway. Версии, один шаг, кабинет, запись и аудит реализованы в синтетическом контуре. Экспертная разметка правок и пакетное переобучение следующей версии модели запланированы, не действуют автоматически. Сравнение функциональности конкретных конкурентов не проводилось.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является сокращённым представлением формальной BPMN 2.0 модели docs/pitch/workflow.bpmn. Полная модель включает ручной путь при недостатке фактов, цикл исправления и отдельный пациентский процесс. Корректность правил пока не утверждена медицинским экспертом.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Продуктовый workflow: docs/architecture.md, docs/implementation-status.md. Валовая синтетическая конверсия в коде считается до подтверждённой записи, не до фактического визита; uplift неизвестен. Файл docs/pitch/workflow.bpmn содержит вторую формальную BPMN-диаграмму продолжения.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РКИ: https://pubmed.ncbi.nlm.nih.gov/25668008/ — SMS за 48 часов ДО назначенного скрининга; 59.1% vs 64.4% явки в intention-to-treat. Это обосновывает проверку SMS как канала, но не доказывает предложенное время после заключения, два сообщения или рост записи у Patient pathway. Обзор https://pubmed.ncbi.nlm.nih.gov/24310741/ подтверждает эффект SMS на явку, а не конкретную каскадную схему. В текущем коде есть только демонстрационное событие уведомления; планировщика SMS нет. Не отправлять подробности о находке в SMS, учитывать согласие, остановку после записи или отказа.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статус на 04.10.2026: docs/implementation-status.md и docs/evaluation-results-synthetic.json. 110 backend тестов, 8 браузерных; семь пар JSON/SR. Изображение: frontend/test-results/reviewer.png, снято на синтетическом демо. Реальные Kafka/PACS/МИС и клиническая валидация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Рынок сегментирован по задаче, численный TAM не утверждается. 10 млн исследований и 58 регионов — самоописание «Третьего Мнения» на https://thirdopinion.ai/ по состоянию на 04.10.2026, не объём доступного рынка или годовой поток. Платформенный вектор: https://thirdopinion.ai/tpost/5s66ygpj11-orgzdrav-2026-anna-mescheryakova-o-platf. Смежные продукты: https://www.medesk.ru/ (МИС и запись), https://webiomed.ru/ (аналитика/CDS). Это сравнение категорий, не доказательство отсутствия функциональности у конкурентов. Цены являются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значения на слайде являются допущениями, а не результатом пилота. Полная формула и чувствительность: docs/pitch/economics.json. Реальная конверсия и uplift не измерены. Валовая метрика прототипа: docs/implementation-status.md. Чтобы приписывать причинный эффект, нужна контрольная группа. Для госучреждений финансовая логика и закупка отличаются.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0 соответствует текущему синтетическому прототипу: docs/implementation-status.md. Этапы 1–4 являются планом, сроки зависят от доступности партнёрских контрактов и медицинского эксперта. Дорожная карта подробнее: docs/pitch/diagrams.md.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кейс перечисляет востребованные роли, но фактический состав команды, имена и индивидуальные достижения не сообщены пользователем. Не выдавать эти роли за уже нанятую команду. Риски и статус прототипа: docs/architecture.md и docs/implementation-status.md. Запрос к партнёру предложен как следующий этап.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9266849334a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a18a9fb0214235" /><Relationship Type="http://schemas.openxmlformats.org/officeDocument/2006/relationships/slideLayout" Target="/ppt/slideLayouts/slideLayout1.xml" Id="Re320f4b4dba342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20f4b4dba342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ea54c771b4416" /><Relationship Type="http://schemas.openxmlformats.org/officeDocument/2006/relationships/notesSlide" Target="/ppt/notesSlides/notesSlide1.xml" Id="R0ec99438e00045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6c6acc9f54642" /><Relationship Type="http://schemas.openxmlformats.org/officeDocument/2006/relationships/notesSlide" Target="/ppt/notesSlides/notesSlide2.xml" Id="R8c8cc8b5aa2043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290467e574499" /><Relationship Type="http://schemas.openxmlformats.org/officeDocument/2006/relationships/notesSlide" Target="/ppt/notesSlides/notesSlide3.xml" Id="Re87afd53f3d948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3263a62dc4576" /><Relationship Type="http://schemas.openxmlformats.org/officeDocument/2006/relationships/notesSlide" Target="/ppt/notesSlides/notesSlide4.xml" Id="Rf060797ec5ee41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e5ee21d164db7" /><Relationship Type="http://schemas.openxmlformats.org/officeDocument/2006/relationships/notesSlide" Target="/ppt/notesSlides/notesSlide5.xml" Id="Rc38174b5768546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702a3d5d74ce8" /><Relationship Type="http://schemas.openxmlformats.org/officeDocument/2006/relationships/notesSlide" Target="/ppt/notesSlides/notesSlide6.xml" Id="Rd5231257f2db43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cf39d56524695" /><Relationship Type="http://schemas.openxmlformats.org/officeDocument/2006/relationships/notesSlide" Target="/ppt/notesSlides/notesSlide7.xml" Id="Rd465ba03d68140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40a62fd424270" /><Relationship Type="http://schemas.openxmlformats.org/officeDocument/2006/relationships/notesSlide" Target="/ppt/notesSlides/notesSlide8.xml" Id="R1ef494acbde64c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61d7b357f4496" /><Relationship Type="http://schemas.openxmlformats.org/officeDocument/2006/relationships/image" Target="/ppt/media/image.png" Id="Rc1b8cdce63fc47df" /><Relationship Type="http://schemas.openxmlformats.org/officeDocument/2006/relationships/notesSlide" Target="/ppt/notesSlides/notesSlide9.xml" Id="R96874e62e80346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4ea5d11c34a0c" /><Relationship Type="http://schemas.openxmlformats.org/officeDocument/2006/relationships/notesSlide" Target="/ppt/notesSlides/notesSlide10.xml" Id="Rf2ea5104984b48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ad19f29d74530" /><Relationship Type="http://schemas.openxmlformats.org/officeDocument/2006/relationships/notesSlide" Target="/ppt/notesSlides/notesSlide11.xml" Id="Ree2004bcdb2748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dab00179e4e2a" /><Relationship Type="http://schemas.openxmlformats.org/officeDocument/2006/relationships/notesSlide" Target="/ppt/notesSlides/notesSlide12.xml" Id="Re5570621264849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5f3f78ca44bac" /><Relationship Type="http://schemas.openxmlformats.org/officeDocument/2006/relationships/notesSlide" Target="/ppt/notesSlides/notesSlide13.xml" Id="R0c2c27a4fef944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15042B-8AB7-4824-B203-ECF3B3A2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ПИТЧ · 8 МИНУТ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11DCF-85A3-4DF6-9851-A24C1DC4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74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Patient pathway: следующий шаг после ИИ-заключения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7B691-860F-4B2D-8B83-CDD0299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Маршрут формируется и утверждается во время текущего приёма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59224-DB0C-4125-80AB-42A827CA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5F90E-4968-45CA-96DC-81CF22FF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B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CBB9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5BC7D-9C23-4BC3-B3E1-7CB3D2BC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899D6-5DB0-45D6-97CE-CD7F63A2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5874E-F6CF-47AF-897D-0DA96155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41DAC-5928-43D8-B212-8E0D0948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Обследование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39572-9361-4E32-B9EF-5AC84582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C90FA-9CDF-44A3-9610-843F17C3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43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B0E9B-0078-4725-9BB0-1214D763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F4C07-E909-492E-B5DA-A77D2EB5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56354-9841-46C6-A943-67ABCB32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ИИ / 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CB318-C159-480A-83F5-8EF7228F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C3D2E-6027-4173-B4AF-0CF2002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29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6DD07-7877-4827-96A7-FC8C0A2A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BDE5CF"/>
          </a:solidFill>
          <a:ln xmlns:a="http://schemas.openxmlformats.org/drawingml/2006/main" w="9525">
            <a:solidFill>
              <a:srgbClr val="BDE5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4772E-6720-488A-850A-6E0A1EE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9A3D0-1ED7-4856-A3F9-A53511D3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Один следующий шаг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44E69-04BE-44BC-9D22-17D26539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5A8D6-A2CF-4A77-8EAF-DB5B49D0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15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7C205-4EFB-4374-8156-4DF91BC7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69ACC-4880-46BF-B3F2-6D6F5F1C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E7F6D-46B8-4590-9258-777F03D8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Решение специалиста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C3690-9D47-469D-B072-B90760B3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2D3EB-250E-4C8B-8345-9194960B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01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DC09E9-E890-4363-8006-CCE4F747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8DD95F-0FAC-4B90-B5BA-0A0286FC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8E9CBA-B8E1-4CB4-871C-3B1B87B1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3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Запись и результат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424E3B-7551-4CF1-A789-4D5BB4A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Мы не читаем снимок повторно. Мы превращаем уже готовое заключение в подтверждённое и измеримое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1922613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0BAD0-BF3B-4313-AB54-1501916C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99CE3-8D39-4A90-9BE6-415C8199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62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Диагностический ИИ ускоряет заключение; путь дальше требует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F9CFD-2689-44C2-84AD-869D1ACD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Без управляемого перехода находка, решение и запись остаются разными событиями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91878-B1B5-4AD4-807C-577C6961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1CF2E-C9D3-4A99-BA06-8A8D1A64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2D9CC-F33B-4FC6-926E-72BF6DF5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FAC9C-E974-439D-98CC-64B96738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90875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C599F-4C36-4E3A-AC69-F59F88A7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F2C83-5FC7-4AD3-B12C-9F36313F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ИИ уже в контуре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D61A6-1351-4349-898A-55152F7D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79082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«Третье Мнение» формирует описание и DICOM SR. Клиника получает результат исследования во время приёма.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F8F19-09D7-47D9-81CA-0A9E5F6B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190875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7AFC5-B2EC-4A1D-B978-5A467908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59070-6D7B-4176-83F1-00C0CD92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86000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Следующий шаг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117B0-3D99-4718-83CC-39AF4051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86050"/>
            <a:ext cx="279082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Его надо определить, утвердить, показать пациенту и довести до фактического действия.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F8FA0-140E-4F1B-AF93-B00BB5E5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3337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F5D86-87CF-45B5-B156-F8E1DD57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BDF47-D2A9-4BE8-A7ED-AB50C3AF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Разрыв виден в данных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71D90-F65E-4EE4-BDAA-B441D986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2933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 обзоре амбулаторных исследований доля результатов лучевой диагностики без follow-up менялась от 1,0% до 35,7%.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5210F-0968-4CF4-A0B5-CDFFBDC1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147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DC5B3-6942-4502-AEC8-EDA96680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91000" y="32480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837FA-A296-427D-819C-3E396812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14700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93046-AE98-4593-ABA7-4DBA616C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10525" y="32480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942464-B359-43A6-8BCE-E5B27312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967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11 980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612AB-9971-4CC1-977E-3E23BC69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62525"/>
            <a:ext cx="885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пациентов с просроченным follow-up: в РКИ завершение за 120 дней составило 22,9% в обычном процессе и 31,4% при напоминании, outreach и навигации.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17703-92B2-4C66-85F6-5F22B77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Это данные других систем и популяций. Потери и эффект Patient pathway пока не измерены.</a:t>
            </a:r>
          </a:p>
        </p:txBody>
      </p:sp>
    </p:spTree>
    <p:extLst>
      <p:ext uri="{BB962C8B-B14F-4D97-AF65-F5344CB8AC3E}">
        <p14:creationId xmlns:p14="http://schemas.microsoft.com/office/powerpoint/2010/main" val="250047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A5CAC2-0E6F-42D0-8F8E-142ECB8C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53386-26B8-4C2A-ABFF-A29D9BCE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38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Один следующий шаг соединяет решение и действие пациента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2FFDD-EB28-4B5B-86AD-D6FB5423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После результата создаётся новая связанная версия для следующего решения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3BA7C-9335-4AEF-A114-6C9B7BB8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A8FCA-59C7-4EBF-822C-D1132272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8D528-892E-479A-B1EC-F06DE875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B9A82-A55F-41CA-9E70-149EED1D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09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F7C88-D198-40C8-8893-D1AE4FCF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645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ВО ВРЕМЯ ПРИЁМА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1C49B-DDF9-4541-BA5F-E62C10BE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566C1-E74A-4417-8906-827D59A1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EC89F-46F7-4DC0-B333-516FA6C1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1 · Разбор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8D5A3-3F2E-4CA3-A6E2-A9A6B090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Известные поля JSON / SR → общие факты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4D3D9-C667-42B4-845A-107D5752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DD7E1-C6EB-48DA-983D-9496274B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D781C-D704-47EE-8C90-A5C0C443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2 · CatBoost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1E6B8-CB77-473E-8F47-0E7778FA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шаг + вклад полей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2735E-FE76-4CB8-8C6B-23AB3117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D044E-0C1C-4065-B4D8-266C80A6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5B653-E01E-4269-92D0-0260DF74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3 · Решение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D798E-974C-4553-8C4A-14A8A70F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Специалист подтверждает или правит с причиной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C5F11-FCF0-4B74-867E-87017F8F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00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47C00-22ED-49CC-BE98-82C204FF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ПОСЛЕ ПРИЁМА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F1F48-265B-4AF2-92CC-B035FAEB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1B5F04-41F7-4C07-BB26-4A9A2765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09C01-A964-41C4-A506-129F10A2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4 · Публикация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2585F2-DB1C-40BE-897E-6FCEE8F5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Пациент видит лишь утверждённый шаг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D6E26-6A62-4B28-A41C-05BEC279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5EC9D0-80B2-49CE-8C5C-6BC1EF72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8383F6-F304-4E40-879E-5A63ED8E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5 · Запись / анализ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94350F-6C32-4150-AD77-B61278D1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Подготовку можно организовать параллельно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E897A4-D442-4A90-A030-63E2C71E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5C1C31-567C-44C9-A7DE-C93FF52D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7FFDB9-70FE-4589-A2F7-6464B2E9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6 · Новый цикл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D4912F-A30D-4025-937F-7C9D4633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После результата снова решает специалист</a:t>
            </a:r>
          </a:p>
        </p:txBody>
      </p:sp>
    </p:spTree>
    <p:extLst>
      <p:ext uri="{BB962C8B-B14F-4D97-AF65-F5344CB8AC3E}">
        <p14:creationId xmlns:p14="http://schemas.microsoft.com/office/powerpoint/2010/main" val="108659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CE078-277D-4203-86F1-83553389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CC653-6339-48B5-891B-2E6BD30F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62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Структурированный SR превращается в проект следующего шага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1F17B-EC23-4699-A2AF-73588A44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Одна модель маршрута поверх двух форматов входа; решение специалиста остаётся обязательным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0DA70-EF15-4A3E-9E99-AFADB3A6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B0C59-F4C7-4346-9CD3-F8A19FD4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6EBB3-7F45-4D34-9E03-9D0A8EE3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976C7-81AF-4B46-9E41-41C2B87E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5146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E8BDF-FFD2-4DA5-AD7E-175577CF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09263-740A-4D2E-8878-EB611E7F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01 · Вход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2F4B0-DA08-4CEE-A0F0-D362DA6C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2114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JSON и DICOM SR. Профиль клиники указывает путь к известным полям.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51E3D-2F72-478E-A19F-8F21BB86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5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109E5-E5BD-4A31-BEAA-3CF910B3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71825" y="3286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0065D-2103-42B6-8968-658E5D7A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0275"/>
            <a:ext cx="25146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50B02-3FF0-48A3-99E4-874D6A51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0275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5EABE-4D70-4526-BBE2-380ACD37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907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02 · Парсер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80D8A-A14C-4FB3-AE7B-F1943EB0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2114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Канонические признаки с точным указателем на поле заключения.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BD6CF-279C-45F9-9E2D-D69E0D58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2800"/>
            <a:ext cx="5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884BB-CD9E-46F5-9526-A75E8DAD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15025" y="3286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E9EE1-2543-4E46-9482-7E12FE5C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25146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D45B9-F3C6-4EDB-A619-3CF15D2D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60FCF-D24E-49E9-A7AF-B9C21EBE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907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03 · CatBoost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0CB74-5F8A-488D-B20F-8BA1EA8F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2114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Обученная модель предлагает один класс следующего шага и вклад полей.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E2D22-9703-4E9C-9430-06D3012B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52800"/>
            <a:ext cx="5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1F2D9-B44A-4260-A7AE-88D02B7D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58225" y="3286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DD3194-4D46-4A1F-9FC8-B05BFB97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0275"/>
            <a:ext cx="25146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AF6E4-666D-4CE5-9A6D-A38DCE7F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0275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579FCA-32CC-4106-8BC4-545BAD3B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907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04 · Workflow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5F5431-C36C-4B1E-A7AB-D1ADB0E6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90825"/>
            <a:ext cx="2114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Специалист правит или утверждает; затем кабинет, запись и новый цикл.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38E90-54F6-4372-8FA7-9BDAC565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Почему CatBoost: табличные числовые и категориальные поля; сочетания находок; версия модели и проверяемое основание.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2D8CD-6FB2-42F1-AED4-1ABF50C3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51530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F71223-B1D1-4A42-A62B-A3392358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СЕЙЧАС: 3 ПОЛЯ / 76 СИНТЕТИЧЕСКИХ КОМБИНАЦИЙ</a:t>
            </a:r>
          </a:p>
        </p:txBody>
      </p:sp>
    </p:spTree>
    <p:extLst>
      <p:ext uri="{BB962C8B-B14F-4D97-AF65-F5344CB8AC3E}">
        <p14:creationId xmlns:p14="http://schemas.microsoft.com/office/powerpoint/2010/main" val="1806041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67422-3899-4CB8-9B33-146FC59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ПРОДУКТОВЫЕ ПРЕИМУЩЕСТВА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B4754-133F-48C6-B425-D642725D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Пять решений удерживают маршрут управляемым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ED7CF-88FC-4902-AE4C-CFC1E3F4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Отличия нашего проекта сформулированы как проверяемые механизмы, а не как заявления о конкурентах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32404-2603-4E51-8FF5-9F9711D0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955FE-D194-4B97-94B8-AE57572B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2BE39-0AF6-4863-BAA1-2BE888BE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65C4E-0E3E-467C-9433-851A77EA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3AD71-97F6-4322-97AA-7749EE5D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B23BF-944A-438A-9F39-BC747229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00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Во время приёма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E53C1-D94E-4E13-A3E7-7A0DDDB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907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Проект готов до ухода пациента и попадает в рабочее место специалиста.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7C4D8-AE64-47CF-985D-16AAED33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F0891-E1D5-453E-BD76-3844AC09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1ED80-229A-4921-9FC9-80CA267D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81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Один шаг за раз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B8C03-E345-442D-AB1D-2444724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717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Новая связанная версия появляется после результата, когда выбор действительно можно пересмотреть.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58995-1098-46CD-802D-53661325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B0A05-6061-4204-B804-B937F985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2E6CE-CDCD-42DA-8D92-AF0A2FF8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62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Основание рядом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343EB-3DCB-47E6-9ED7-4ACE8191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528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Специалист видит поля SR, их значения и вклад в предложение модели.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47582-8177-43CB-A88B-1561707E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A1F26-8678-43DA-AC51-064B8B05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87C66-9B1F-4A6A-B29B-637806F4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434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Правка становится сигналом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F22B0-A11A-4A74-B17F-78E0A6E6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33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Решение действует сразу; после разметки оно улучшает следующую версию модели.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F1AA6-A9E8-4824-BE5E-AB07C316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E2332-D958-45FB-962D-657830C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826E2-B8B9-4F76-A0F6-BE07B5D5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24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Две стороны пути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FC151-645B-4A74-9B48-411D7282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149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Кабинет пациента и подтверждённая запись дают измеримую воронку.</a:t>
            </a:r>
          </a:p>
        </p:txBody>
      </p:sp>
    </p:spTree>
    <p:extLst>
      <p:ext uri="{BB962C8B-B14F-4D97-AF65-F5344CB8AC3E}">
        <p14:creationId xmlns:p14="http://schemas.microsoft.com/office/powerpoint/2010/main" val="128024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7022E6-C948-44D3-8F4E-7D727057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БИЗНЕС-ПРОЦЕСС · ЧАСТЬ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9416D-62AC-4152-BEB1-44778362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0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BPMN: решение принимается до публикации пациенту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0D359-32DB-4F1B-985C-2BD8D9FE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Полная BPMN 2.0 модель с участниками и сообщениями — отдельный файл workflow.bpmn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BED5A-3BB0-4495-90E5-E2C22B15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1A6CF-D2A9-4D8A-BCDB-30ACEE0B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B47AB-36AC-4402-9761-BC51791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CE97D-3837-4CBC-9125-C642AE77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6CC2D-C003-4A40-9A70-7B724331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ИИ / источник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25898-5F50-401F-9958-933806DC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0980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C97F7-83E1-4044-A92B-1CE137C1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D3434-E6D3-4B12-AD76-F93B9597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8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Patient pathway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03ED4-B49D-4970-ACC9-5E52B797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9925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83CB3-037C-4E8F-A848-E1F057D7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64DA4-70A7-4A0D-BFCC-9F031EAC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442BD-6125-423F-ACE4-9E2C383F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100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01830-B581-4071-B838-784C68A0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66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4F108-10E9-409A-ADA6-6F70778B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SR готов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C150A-0229-4F43-99FD-B3068D26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193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9FA2F-A5C0-489C-868E-D93C3EAC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52950" y="25527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87907-8D6F-4141-B898-07D7DE4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43150"/>
            <a:ext cx="1695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49F43-88AB-4F8A-97D6-C644E33C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193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Передать JSON / SR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E7DC4-4E7C-4D3B-B447-9BBF8894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48075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A8807-257B-4064-BD13-270E4BE5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71825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FEEB40-B20C-41F2-AE9B-19CDCEE8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48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487408-F9C3-4880-8EFC-34CFAE90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05425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2823D-8024-4492-AFCD-79B49D4C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48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BDB9B-9A11-4308-AE55-5E8C87E6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3B708-9885-4E5B-BF91-19E20312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48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4879E9-6429-43BC-9634-54FCAE2E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5000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ACBDA-0047-4175-90B5-C6FB2771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903519-E7A8-4442-AD69-BCFD9ECE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43275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41B38-CBD2-4BF5-AC3B-430840AB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38525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Разбор по профилю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249B41-D8DB-45D5-BA58-19F5D38F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09950"/>
            <a:ext cx="504825" cy="504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19050">
            <a:solidFill>
              <a:srgbClr val="D6A3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F39331-5E77-495A-9CAF-CE10DEDD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147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07709E-7C4D-45B9-940E-34EA7A61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8137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есть факты?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46FDF7-CF15-48B7-B881-6AC0EFFA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43275"/>
            <a:ext cx="14954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9CFC5-CEC8-4D5D-BDE1-4F54AFB5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29000"/>
            <a:ext cx="1304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60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Проект + trace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B380D6-1408-4136-8681-B9FBE44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43275"/>
            <a:ext cx="15335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CE3834-9F89-4746-B647-0D57C419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29000"/>
            <a:ext cx="1343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8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Получить решение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690E58-95BE-47D7-A24C-F3962CAC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4340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3654F6-7339-4636-AF4A-185F01A1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2912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4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Проверить основания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9C097-B5FF-4EA7-85BB-99F7F46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38675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D96FFE-6EF9-4E6C-89E6-B2A0AE80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20225" y="45720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852FF4-688F-432D-8860-2D450D58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00550"/>
            <a:ext cx="49530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19050">
            <a:solidFill>
              <a:srgbClr val="D6A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452489-F5A3-4AC0-A490-1CBDC4D3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51485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6F6E5E-D2A0-4479-8EF8-5465BB4F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333875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утвердить /</a:t>
            </a:r>
          </a:p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исправить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A3EC40-7CC2-4980-B8B9-A31583B0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338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C6C8B9-D91C-4488-BA96-8DC75C40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433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7371BA-0BC1-416E-967A-6E63FE94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37623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9551EC-CE4F-44D3-AC20-FFF433A1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86400"/>
            <a:ext cx="3590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без подтверждения: пациенту не показывать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047D81-6E8A-40A9-BAA1-0A6EF509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006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Исправление создаёт новую версию и снова проходит проверку.</a:t>
            </a:r>
          </a:p>
        </p:txBody>
      </p:sp>
    </p:spTree>
    <p:extLst>
      <p:ext uri="{BB962C8B-B14F-4D97-AF65-F5344CB8AC3E}">
        <p14:creationId xmlns:p14="http://schemas.microsoft.com/office/powerpoint/2010/main" val="1604855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DAF848-521A-4499-BD78-A6C82B9C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БИЗНЕС-ПРОЦЕСС · ЧАСТЬ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5C96D-C206-45D4-BF5A-3EC5D900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После приёма путь продолжается по результату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2ED67-2051-4C55-B174-61C8EBF6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шаг, подготовка и новый проект после результата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70A97-5963-4467-B95E-5B8C388B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9DE07-B7A5-478E-8D94-D6F92684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C2DBC-1633-4F21-B66A-1C237BCD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EC261-A49E-4E6E-AE81-908E5D11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4D1D0-E1DC-40A2-950A-ABAD2360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Показ шага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C75EA-ED69-43AF-9B45-A77B4F5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Только после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подтверждения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6B910-6F9A-441E-9508-EE53A575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E4185-AD63-450B-B8E6-F5B7231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09850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5146A-0E6B-4CFA-BCB2-6A5CDC95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8F72A-F633-497E-A6B0-A28B36E1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1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Выбор пациента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461A0-AC8F-4421-9AE7-9EAF9A87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Записаться / отказаться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 вернуться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C409B-A37C-4B9A-9CC5-8A80C858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60DDB-C408-49A2-91F3-0B50A789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10125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C99C3-F634-4F4C-A0E1-8C4578E8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0B785-FE31-431E-A2F6-F02A1A7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Запись / 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3037B-7C01-4C7D-99C9-EDDE6A73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8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Анализ до приёма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если нужен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D3D1F-6E42-4755-82C9-FB4F1C86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8F3C2-FC83-43C8-8882-A987A043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10400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0EB1A-1AA9-45ED-A88C-24E06351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E0761-BBC7-4CAA-B055-F8B6891D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2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Результат шага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BDC17-69DA-4303-B19E-0EEB4BEB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Факт и заключение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 услуге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E5941-76FB-46EC-B468-4E722EF5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C7903A-79B8-4EC3-BDB4-5140F23F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10675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FBE6A-F48C-464E-9A0C-BAAED06C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393640-8EA3-41F6-B563-042F3BC7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Новая версия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03572D-671A-4843-9686-8D0A1D63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новый шаг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или завершение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D497A-EB4B-4C5C-8D27-516688C1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257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6A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B73551-F293-4A6A-887E-5320D319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Ключевой барьер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38071A-90DF-4589-8CF1-FA6D319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5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Следующий шаг появляется после результата и нового решения специалиста.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5677B5-5378-43F0-B6D8-64200747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5486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16051F-E953-449A-A567-DF2B9C1E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Измеряемый след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A2447D-3ED9-4367-BC52-11EEA3DF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5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Показ → запрос → подтверждение → визит; отказ и возврат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2107793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E9B14-2937-4297-A41E-CDF509A5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КОНВЕРСИЯ И КОММУНИКАЦИЯ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6C17B-DD36-4CB7-A617-B20447C2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65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Контакт с пациентом привязан к утверждённому маршруту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A5ABC-FAAF-4E4D-9343-1601672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Два напоминания только при отсутствии записи; частоту и интервалы проверим в пилоте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548A5-9CB5-4154-9ACC-8EAAC172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92DEB-DCBD-482A-92A7-0030686E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0EAD3-ADD9-4ECE-9C15-4246D7D3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9F8CF-FBC8-4B77-A103-A3B7D3E5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429000" cy="220027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0B2C2-5650-484D-9179-DE031C44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57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3787A-2777-44F7-AF8C-AE11B61D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0 ч · Кабинет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34934-C4A9-4994-AEEE-FAF4EB97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30289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После решения специалиста видна плашка с одним шагом и доступным временем.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CA56E-56C4-4556-AC5F-86144384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43275"/>
            <a:ext cx="10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2373F-9D95-46C2-981C-7218F16C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52900" y="32766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CCCD0-7EC0-4231-BDDD-EC344C38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429000" cy="220027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150B1-5220-4005-A284-2E2D3DFC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57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9ABEE-3463-42F2-86D5-1A92B30E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+48 ч · SMS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DA811-7877-48CE-8BD7-6B19DDB9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0289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Если нет записи: нейтральное сообщение со ссылкой на кабинет.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A179B-BB7F-4EF2-B58D-90952B1D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43275"/>
            <a:ext cx="10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9CD87-735F-4F0D-BA59-564DE7F9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67650" y="32766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2C022-31BD-4A9D-A153-E1D0110C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429000" cy="220027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E2034-178F-4DBD-99CE-BFB5BC4F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57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19460-3689-416B-90CA-18A65A27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+72 ч · SMS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267BD-5DE2-4058-9782-86D8CCD0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30289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Ещё одно напоминание при отсутствии ответа; затем автоматическую цепочку остановить.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E43851-9E68-4385-8D02-809B1BD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08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Доказательство канала: в РКИ по приглашению на маммографию SMS повысило явку с 59,1% до 64,4%.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B0E5B-7C83-40C1-B4E0-AE498942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10744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Точные +48/+72 ч после заключения и эффект двух SMS для нашей записи не проверены. Это гипотеза A/B-пилота.</a:t>
            </a:r>
          </a:p>
        </p:txBody>
      </p:sp>
    </p:spTree>
    <p:extLst>
      <p:ext uri="{BB962C8B-B14F-4D97-AF65-F5344CB8AC3E}">
        <p14:creationId xmlns:p14="http://schemas.microsoft.com/office/powerpoint/2010/main" val="451580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C3E9E-E2D4-40B4-BD20-615EB56C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4E3CD-0122-4E0C-A7CF-35DD63BE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Работает синтетический сквозной прототип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AB177-A5E4-42EC-9544-F32C72F4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Проверяем поведение на воспроизводимых сценариях, не заявляя клиническую готовность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1D78B-F04A-4D46-AF4F-053C9E8E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1AAD1-7EFE-4618-B930-037FF83F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23D23-D482-45FC-A018-F279CAD4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8cdce63fc47df"/>
          <a:srcRect xmlns:a="http://schemas.openxmlformats.org/drawingml/2006/main" l="0" t="12436" r="0" b="124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43125"/>
            <a:ext cx="6238875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63DF3-E0C5-4DBC-AB88-5302350F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21ACF-1609-4705-A45C-7A386268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JSON + 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D6541-2D98-4CBD-A507-5B781FB6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2 входных представления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46795-BDCD-4FD4-8C3E-5095AC17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FA879-0E4F-4D3D-9C61-E2B9F240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147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7 пар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83640-11DB-4747-8DFB-2934B10D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52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синтетических заключений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C3962-F8A5-4D10-B23A-FE04536C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00575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74092-9C19-49BA-B6AB-8B502513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434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110 + 9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3E321-E4F7-40FF-958C-F35FA12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81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backend и браузерных тестов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B766B-C81B-456E-9F37-978259F2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3352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38816-90D2-4F3D-8BC5-754EA865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6265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HYPOTHESIS: маршрут модели</a:t>
            </a:r>
          </a:p>
        </p:txBody>
      </p:sp>
    </p:spTree>
    <p:extLst>
      <p:ext uri="{BB962C8B-B14F-4D97-AF65-F5344CB8AC3E}">
        <p14:creationId xmlns:p14="http://schemas.microsoft.com/office/powerpoint/2010/main" val="19438367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F8A591-C28A-42FE-B8A4-6EF54CED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РЫНОК И БИЗНЕС-МОДЕЛЬ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C2AAE-17EE-4044-BA9B-E2A040B6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61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Покупатель — клиника с ИИ и потоком следующих действий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5C9F6-5A44-418D-A0C6-BE56709D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Мы встраиваемся между поставщиком заключения, специалистом и системой записи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FDC04-29F5-442C-849E-10728A03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D5897-A9A5-4D10-84AA-6563FACC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05335-8F26-4C79-BCDC-E94A1E18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BE031-BF00-40C5-992D-75A29504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0934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«Третье Мнение»: 10 млн обработанных исследований и 58 регионов по данным компании. Это показатель партнёра, не размер нашего рынка.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D77A9-FBC1-4F60-833F-FA436683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500A7-19BC-4F9E-AD87-ACC2711C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5CE68-2157-4217-8CC5-F5CF3DF6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ИИ диагностики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5E746-5641-4A2D-BB2D-450B466A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Готовое описание и SR. Поставщик может развивать маршрутизацию.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CAF24-3FB9-4BFD-AD32-4EDE3855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815FF-DEB2-48F4-AC64-13E7629C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DCAC5-F970-46A4-93F0-7B50534F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МИС / запись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4D7E4-54BF-4F4C-8D44-FE8BBFD2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Расписание, слоты, коммуникации и факт услуги.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6850E-2499-4817-9A57-A3EE7AD6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3F818-74A7-4C05-80AB-F7A918D3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75583-C9A8-4934-917C-BD711CA3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CDS / аналитика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16CE2-0D46-4566-A645-AAB51A57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Поддержка решений на широких данных пациента.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C6270-6589-4EB2-B44D-062CA932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D8333-62AE-45F4-B587-4C9700E9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60A33-9C93-42D2-A150-19572A34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Patient pathway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F20EDA-C1AB-428E-B214-958DF179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Исполнение маршрута из SR: версии, решение, запись, результат.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5FDBD-4ECD-4508-8B68-2919BA32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2578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0B349-4C2A-42D1-8197-03A94CCD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Частная клиника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3CA4A6-1FB5-4346-AEB8-BF05B15D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6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Настройка + абонентская плата; эффект — запись и визит.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ADF2F6-4C73-45EA-86F9-1D034665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48225"/>
            <a:ext cx="54864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411C9D-CE6F-4190-B866-C244846A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815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Государственная клиника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02703-2F12-4D45-B0A3-108EB582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054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Внедрение + сопровождение; эффект — завершение пути и время.</a:t>
            </a:r>
          </a:p>
        </p:txBody>
      </p:sp>
    </p:spTree>
    <p:extLst>
      <p:ext uri="{BB962C8B-B14F-4D97-AF65-F5344CB8AC3E}">
        <p14:creationId xmlns:p14="http://schemas.microsoft.com/office/powerpoint/2010/main" val="5262888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E5EDD4-B1AB-4DA8-9A50-4B739B79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UNIT-ЭКОНОМИКА ·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CB354-FB2A-4417-AD06-628B5D81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94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Экономику определяет измеренный прирост завершённых действий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52A49-5291-4418-8D36-1B831C23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Иллюстрация на одну частную площадку в месяц; цены и uplift пока не подтверждены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61F01-CB56-48BB-B01E-8E1B6D68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9E409-6C22-4241-BA02-4949F5E3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0C3A8-49B9-4A18-A7A5-8FD446FC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7885F-37E4-433E-9088-5A75611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003F4-5E77-42F6-89B8-F53180ED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800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EAF61-682D-4673-9A94-DDEE241D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подходящих 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9B135-C4D2-4289-978D-3096DD5B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648D4-EC57-441B-8AD6-5AB9324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+3 п.п.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83590-0BD6-4F29-855F-4AC5722A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гипотетический uplift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6C4D8-9CAE-467A-9210-A8EC0AD2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07BF6-E3FD-4E32-B016-A306982A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F0AF2-A2FF-491A-9E8C-D7337B3B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дошли до визита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6C355-0069-4871-8931-BD04AF10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40323-E06B-45E1-A2BB-DE9E3BE5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2 500 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6E020-F712-4A3A-8F82-0A90A37F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вклад визита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0206F-11C8-4AED-88E9-98D2CB42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800 × 3% × 80% × 2 500 ₽  =  48 000 ₽ /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C4569-41DB-457A-866C-175E48DA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052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При условной плате 30 000 ₽: порог для клиники = 1,875 п.п.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31A20-F53F-4B09-A81B-04EB32DA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+1 п.п.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0AD3C-9F24-493E-8BE3-6A2B55FB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26B4A-E580-431B-AEEF-495181A1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16 тыс. 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6761E-6D61-4CAB-839B-95E076D2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+3 п.п.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414EE-6DA8-4EAE-9C16-1EB1CFBD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91150"/>
            <a:ext cx="3543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742E2-1425-4AE1-A5B9-46CEE657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34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48 тыс. 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BAD79-0B10-4752-94B7-2BE3AF8B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+5 п.п.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FB525E-6B27-4581-A77E-877A4E71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2452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A0A669-0646-4EA3-80E1-A493B1AC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67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80 тыс. 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9D50E5-59A2-4E9D-9FA3-BAF6FEE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Без стоимости интеграции, загрузки врача, отмен и ограничений ёмкости.</a:t>
            </a:r>
          </a:p>
        </p:txBody>
      </p:sp>
    </p:spTree>
    <p:extLst>
      <p:ext uri="{BB962C8B-B14F-4D97-AF65-F5344CB8AC3E}">
        <p14:creationId xmlns:p14="http://schemas.microsoft.com/office/powerpoint/2010/main" val="1977359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4175A8-E17B-41B3-8E0F-4122BEB7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ДОРОЖНАЯ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7955D-18CC-4689-BE2B-47FCD3DC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17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Внедрение идёт через доказательства, а не через календарные обещания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B7728-0D85-490E-90CB-12951B1C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Каждый этап открывается только после проверки предыдущего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C6EC1-61C6-4E8B-BC51-F7CDD0CF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AA40D-A687-4F93-AD70-3AB82A8D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4B9F6-C37A-4540-9E37-94D9A73D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D05C5-ABD8-4797-9EE3-6E4AA51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ED84D-E32A-4C67-A127-819DF62A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A3771-4D14-4844-9207-0B24605D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459B3-7495-4C39-8126-22903C93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9B0AB-8169-4ABD-BE2F-8899D213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Синтетика, CatBoost, два контура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29F02-39B5-4E5D-8C69-0CBA55A1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9BD02-1788-42BD-AB3C-F191213A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Выполнено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CD4F5-75C0-4FBF-8229-2E2E65EB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B2753-3DB5-43E9-9763-4B3B0A14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7950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9B7DC-AED0-4C7E-9034-14639E82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C01D0-7C79-487D-B795-DF7F0F92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6C220-B3D6-4020-9AD8-2D61961D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3BF01-66AD-428C-911A-CC97460E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Данные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4318F-C8A6-45C8-B548-B6B7F0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SR, коды услуг, экспертные метки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F6BF2-55A6-41AB-8163-876C08D3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B0B14-1980-4E2B-A47A-EA633D88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Согласовать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5A5DC-3172-4523-9AA4-86AE80D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90AB8-5463-49AF-8B42-5DFE8A27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67275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483A92-6EF6-41E7-9DB1-7008D70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448CC-8B87-45E5-8868-175A7FA7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7ED5C-46F0-4636-A1E7-588D7522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62F5C0-E7BA-4A99-A775-010F3CA4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Теневой режим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8A27B3-8D2B-47FE-AA59-3B184183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Согласие врача, ошибки и время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645FA2-3F0D-48DC-9615-04C784B6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4114CF-9188-4A44-85F5-0E3F5F03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Измерить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826071-113F-494A-BA35-778D31AF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D4DA00-209D-45C3-8B4F-CB61C903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86600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513096-5383-4E03-B46A-9F3555EB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FD0CA9-4F15-44E7-B442-244CF9C8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A8A44D-C3E5-4295-BC52-C9853414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0977E8-6315-4C5E-8CCA-A81F1FA4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90F691-9824-4C1D-B6B0-74AB2140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Запись, SMS A/B, контрольная группа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A025E8-5943-4708-939E-9A54E3C3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1553F0-DC22-4A8C-A7E6-7DB62ED8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Проверить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78326F-64F4-4393-8ABE-83009366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1B72EB-EE3A-40BB-972B-FF8E0382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05925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7D5117-1495-4230-8DA5-A8363FD7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9F27E6-33D7-437D-BFDB-883040BF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720888-B194-4397-B4A7-849B50FF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AB51CF-5731-4ED8-ADB0-8F393448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Масштаб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22C17F-8E52-4ECE-9A7B-70DA0D2C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Новые профили и типы учреждений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6C02D4-577D-4DBD-992F-EDFB491A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6BF1FA-EB7F-42CE-8F3F-AB133015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Повторить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E14973-F955-4644-9CC4-CDBE841A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Гейт пилота: клиническая разметка, статус записи, права доступа, контрольная группа и метод оценки uplift.</a:t>
            </a:r>
          </a:p>
        </p:txBody>
      </p:sp>
    </p:spTree>
    <p:extLst>
      <p:ext uri="{BB962C8B-B14F-4D97-AF65-F5344CB8AC3E}">
        <p14:creationId xmlns:p14="http://schemas.microsoft.com/office/powerpoint/2010/main" val="2767841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C7BA4-ED0F-4521-B837-9B7B2A25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КОМАНДА · РИСКИ · ЗАПРОС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ECC79-8686-416B-97BE-E8994484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Следующий шаг — совместная проверка в клинике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F4EBB-467F-48F9-B75A-885741AC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Состав команды по ролям; имена и подтверждённый опыт заполняются после согласования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313A4-93CE-4ABD-8595-BBB3F631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AA131-F78C-41C2-A632-28FB7EFE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5EAB8-65DF-4F80-AA86-25775A7E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C7735-784E-49FF-98B6-A99A8FC2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861FC-6CA1-48B4-9953-0ADF62F8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Клинический эксперт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07B1F-EE0B-4C3B-8B01-8A08B543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3E874-F954-4448-B600-44968A03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Backend / интеграции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B13FB-5E92-47CF-8ADF-0BD02B2C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A6E63-07C5-44E5-A89F-D10484F9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Product / 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75381-78ED-4971-A102-33C1B148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6E61E-7B7E-4E26-B7BA-4488FC9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Аналитика / PM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42911-45EC-47B1-992D-7CD0713B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57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E073A-1A0A-4FAC-BD55-E8565E8D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Риски для пилота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A9F32-C208-4644-BDE8-DE70F654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Модель не прошла клиническую проверку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SR может прийти после завершения приёма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Реальные статусы записи неизвестны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2B23C-C620-465D-BC1B-DB9A9E89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5486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1FB9D-7098-4B70-91AB-FA122BA1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99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Что нужно от партнёра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02161-C807-4480-A822-1A3FC33F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2907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Примеры JSON / SR и экспертные метки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Каталог услуг и тестовый контур записи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Согласие на пилотную оценку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23C12-24EB-42D5-81A1-4D3665C3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39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Сегодня мы доказываем исполнимость процесса на синтетике. Следом проверим клиническую пригодность и реальный эффект.</a:t>
            </a:r>
          </a:p>
        </p:txBody>
      </p:sp>
    </p:spTree>
    <p:extLst>
      <p:ext uri="{BB962C8B-B14F-4D97-AF65-F5344CB8AC3E}">
        <p14:creationId xmlns:p14="http://schemas.microsoft.com/office/powerpoint/2010/main" val="1866447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2026-10-04T23:34:06.9820000Z</dcterms:created>
  <dcterms:modified xsi:type="dcterms:W3CDTF">2026-10-04T23:34:06.9820000Z</dcterms:modified>
</coreProperties>
</file>