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690b74ceee40b3" /><Relationship Type="http://schemas.openxmlformats.org/officeDocument/2006/relationships/extended-properties" Target="/docProps/app.xml" Id="Racbffc62cd94438e" /><Relationship Type="http://schemas.openxmlformats.org/officeDocument/2006/relationships/officeDocument" Target="/ppt/presentation.xml" Id="Rb32b6355187144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ea2b7d31d142b4"/>
  </p:sldMasterIdLst>
  <p:notesMasterIdLst>
    <p:notesMasterId xmlns:r="http://schemas.openxmlformats.org/officeDocument/2006/relationships" r:id="Rbc74620eb479484a"/>
  </p:notesMasterIdLst>
  <p:sldIdLst>
    <p:sldId xmlns:r="http://schemas.openxmlformats.org/officeDocument/2006/relationships" id="256" r:id="Rb48a9160c82a4905"/>
    <p:sldId xmlns:r="http://schemas.openxmlformats.org/officeDocument/2006/relationships" id="257" r:id="Rb4d4ddc81e204248"/>
    <p:sldId xmlns:r="http://schemas.openxmlformats.org/officeDocument/2006/relationships" id="258" r:id="R62cd4a871eac4abd"/>
    <p:sldId xmlns:r="http://schemas.openxmlformats.org/officeDocument/2006/relationships" id="259" r:id="R9d630c0ac0734d3a"/>
    <p:sldId xmlns:r="http://schemas.openxmlformats.org/officeDocument/2006/relationships" id="260" r:id="R601e588e9c524369"/>
    <p:sldId xmlns:r="http://schemas.openxmlformats.org/officeDocument/2006/relationships" id="261" r:id="R9ff4f6938f314eba"/>
    <p:sldId xmlns:r="http://schemas.openxmlformats.org/officeDocument/2006/relationships" id="262" r:id="R7ea7355eb4d64b3d"/>
    <p:sldId xmlns:r="http://schemas.openxmlformats.org/officeDocument/2006/relationships" id="263" r:id="Rd60bb6b60cd24b17"/>
    <p:sldId xmlns:r="http://schemas.openxmlformats.org/officeDocument/2006/relationships" id="264" r:id="Rd405b721cfc54928"/>
    <p:sldId xmlns:r="http://schemas.openxmlformats.org/officeDocument/2006/relationships" id="265" r:id="R37607521a20d49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054b211191497b" /><Relationship Type="http://schemas.openxmlformats.org/officeDocument/2006/relationships/slideMaster" Target="/ppt/slideMasters/slideMaster1.xml" Id="R91ea2b7d31d142b4" /><Relationship Type="http://schemas.openxmlformats.org/officeDocument/2006/relationships/notesMaster" Target="/ppt/notesMasters/notesMaster1.xml" Id="Rbc74620eb479484a" /><Relationship Type="http://schemas.openxmlformats.org/officeDocument/2006/relationships/presProps" Target="/ppt/presProps.xml" Id="R396b325f7ec14415" /><Relationship Type="http://schemas.openxmlformats.org/officeDocument/2006/relationships/tableStyles" Target="/ppt/tableStyles.xml" Id="Re9e82afa9b1548e1" /><Relationship Type="http://schemas.openxmlformats.org/officeDocument/2006/relationships/slide" Target="/ppt/slides/slide1.xml" Id="Rb48a9160c82a4905" /><Relationship Type="http://schemas.openxmlformats.org/officeDocument/2006/relationships/slide" Target="/ppt/slides/slide2.xml" Id="Rb4d4ddc81e204248" /><Relationship Type="http://schemas.openxmlformats.org/officeDocument/2006/relationships/slide" Target="/ppt/slides/slide3.xml" Id="R62cd4a871eac4abd" /><Relationship Type="http://schemas.openxmlformats.org/officeDocument/2006/relationships/slide" Target="/ppt/slides/slide4.xml" Id="R9d630c0ac0734d3a" /><Relationship Type="http://schemas.openxmlformats.org/officeDocument/2006/relationships/slide" Target="/ppt/slides/slide5.xml" Id="R601e588e9c524369" /><Relationship Type="http://schemas.openxmlformats.org/officeDocument/2006/relationships/slide" Target="/ppt/slides/slide6.xml" Id="R9ff4f6938f314eba" /><Relationship Type="http://schemas.openxmlformats.org/officeDocument/2006/relationships/slide" Target="/ppt/slides/slide7.xml" Id="R7ea7355eb4d64b3d" /><Relationship Type="http://schemas.openxmlformats.org/officeDocument/2006/relationships/slide" Target="/ppt/slides/slide8.xml" Id="Rd60bb6b60cd24b17" /><Relationship Type="http://schemas.openxmlformats.org/officeDocument/2006/relationships/slide" Target="/ppt/slides/slide9.xml" Id="Rd405b721cfc54928" /><Relationship Type="http://schemas.openxmlformats.org/officeDocument/2006/relationships/slide" Target="/ppt/slides/slide10.xml" Id="R37607521a20d49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3b68ae9204c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8b68e4ac944310" /><Relationship Type="http://schemas.openxmlformats.org/officeDocument/2006/relationships/notesMaster" Target="/ppt/notesMasters/notesMaster1.xml" Id="R9abd0156d83946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d3b2e69fe542c6" /><Relationship Type="http://schemas.openxmlformats.org/officeDocument/2006/relationships/notesMaster" Target="/ppt/notesMasters/notesMaster1.xml" Id="R74fbe38592a8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9d6b064c8e420e" /><Relationship Type="http://schemas.openxmlformats.org/officeDocument/2006/relationships/notesMaster" Target="/ppt/notesMasters/notesMaster1.xml" Id="Rfc05f701cc3543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ac837d73a74272" /><Relationship Type="http://schemas.openxmlformats.org/officeDocument/2006/relationships/notesMaster" Target="/ppt/notesMasters/notesMaster1.xml" Id="R65542493846144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780f00f3cd4ada" /><Relationship Type="http://schemas.openxmlformats.org/officeDocument/2006/relationships/notesMaster" Target="/ppt/notesMasters/notesMaster1.xml" Id="Rb7ccee3a82054b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0bcd51e2d418f" /><Relationship Type="http://schemas.openxmlformats.org/officeDocument/2006/relationships/notesMaster" Target="/ppt/notesMasters/notesMaster1.xml" Id="R39ba88e6e69945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6baf543816473f" /><Relationship Type="http://schemas.openxmlformats.org/officeDocument/2006/relationships/notesMaster" Target="/ppt/notesMasters/notesMaster1.xml" Id="R1fab39e335e040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65204b66a24624" /><Relationship Type="http://schemas.openxmlformats.org/officeDocument/2006/relationships/notesMaster" Target="/ppt/notesMasters/notesMaster1.xml" Id="R66fe63ee0a7244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ef59294fec4fa9" /><Relationship Type="http://schemas.openxmlformats.org/officeDocument/2006/relationships/notesMaster" Target="/ppt/notesMasters/notesMaster1.xml" Id="Rfeac1b3358e140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36df674f614e23" /><Relationship Type="http://schemas.openxmlformats.org/officeDocument/2006/relationships/notesMaster" Target="/ppt/notesMasters/notesMaster1.xml" Id="R67d3ca1d831e42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пользователя: страницы 1–3 PDF «Кейс_Третье_мнение.pdf». Продуктовая формулировка и статус: docs/architecture.md, docs/implementation-status.md. Реальный uplift не измерен.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описания уже применяемого ИИ: https://thirdopinion.ai/ (лучевая диагностика и предварительно заполненный протокол). Операционный разрыв сформулирован в предоставленном пользователем кейсе, страницы 1–2. Процент потерь неизвестен.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Принятое продуктовое решение: docs/architecture.md. В текущем синтетическом прототипе реализованы оба контура; клинические правила HYPOTHESIS, реальные внешние интеграции не готовы. По предоставленному БФТ поля JSON/SR структурированы, поэтому NLP в текущем пути не применяется.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Схема является сокращённым представлением формальной BPMN 2.0 модели docs/pitch/workflow.bpmn. Полная модель включает ручной путь при недостатке фактов, цикл исправления и отдельный пациентский процесс. Корректность правил пока не утверждена медицинским экспертом.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Продуктовый workflow: docs/architecture.md, docs/implementation-status.md. Валовая синтетическая конверсия в коде считается до подтверждённой записи, не до фактического визита; uplift неизвестен. Файл docs/pitch/workflow.bpmn содержит вторую формальную BPMN-диаграмму продолжения.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Фактический статус на 04.10.2026: docs/implementation-status.md и docs/evaluation-results-synthetic.json. 110 backend тестов, 8 браузерных; семь пар JSON/SR. Изображение: frontend/test-results/reviewer.png, снято на синтетическом демо. Реальные Kafka/PACS/МИС и клиническая валидация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Рынок сегментирован по задаче, численный TAM не утверждается. 10 млн исследований и 58 регионов — самоописание «Третьего Мнения» на https://thirdopinion.ai/ по состоянию на 04.10.2026, не объём доступного рынка или годовой поток. Платформенный вектор: https://thirdopinion.ai/tpost/5s66ygpj11-orgzdrav-2026-anna-mescheryakova-o-platf. Смежные продукты: https://www.medesk.ru/ (МИС и запись), https://webiomed.ru/ (аналитика/CDS). Это сравнение категорий, не доказательство отсутствия функциональности у конкурентов. Цены являются гипотезой.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на слайде являются допущениями, а не результатом пилота. Полная формула и чувствительность: docs/pitch/economics.json. Реальная конверсия и uplift не измерены. Валовая метрика прототипа: docs/implementation-status.md. Чтобы приписывать причинный эффект, нужна контрольная группа. Для госучреждений финансовая логика и закупка отличаются.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0 соответствует текущему синтетическому прототипу: docs/implementation-status.md. Этапы 1–4 являются планом, сроки зависят от доступности партнёрских контрактов и медицинского эксперта. Дорожная карта подробнее: docs/pitch/diagrams.md.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кейс перечисляет востребованные роли, но фактический состав команды, имена и индивидуальные достижения не сообщены пользователем. Не выдавать эти роли за уже нанятую команду. Риски и статус прототипа: docs/architecture.md и docs/implementation-status.md. Запрос к партнёру предложен как следующий этап.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1b832226943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9c7073c47449d7" /><Relationship Type="http://schemas.openxmlformats.org/officeDocument/2006/relationships/slideLayout" Target="/ppt/slideLayouts/slideLayout1.xml" Id="Rb67ed9d0b6204d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ed9d0b6204d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50f18e787455a" /><Relationship Type="http://schemas.openxmlformats.org/officeDocument/2006/relationships/notesSlide" Target="/ppt/notesSlides/notesSlide1.xml" Id="R4dc313c5bf27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65192a1f147fb" /><Relationship Type="http://schemas.openxmlformats.org/officeDocument/2006/relationships/notesSlide" Target="/ppt/notesSlides/notesSlide2.xml" Id="Rc615054f3bbb4d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3f13b75d94fc7" /><Relationship Type="http://schemas.openxmlformats.org/officeDocument/2006/relationships/notesSlide" Target="/ppt/notesSlides/notesSlide3.xml" Id="R916345306cc64d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b55a3dc874c3d" /><Relationship Type="http://schemas.openxmlformats.org/officeDocument/2006/relationships/notesSlide" Target="/ppt/notesSlides/notesSlide4.xml" Id="Rc3219bae999e41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897a59fc14dda" /><Relationship Type="http://schemas.openxmlformats.org/officeDocument/2006/relationships/notesSlide" Target="/ppt/notesSlides/notesSlide5.xml" Id="R591a6f9d790944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50ec598774b5d" /><Relationship Type="http://schemas.openxmlformats.org/officeDocument/2006/relationships/image" Target="/ppt/media/image.png" Id="R4d971a766ebd4611" /><Relationship Type="http://schemas.openxmlformats.org/officeDocument/2006/relationships/notesSlide" Target="/ppt/notesSlides/notesSlide6.xml" Id="R051b33f303274a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e48ba3755496e" /><Relationship Type="http://schemas.openxmlformats.org/officeDocument/2006/relationships/notesSlide" Target="/ppt/notesSlides/notesSlide7.xml" Id="Rb7884687ae8441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af78ebc384a81" /><Relationship Type="http://schemas.openxmlformats.org/officeDocument/2006/relationships/notesSlide" Target="/ppt/notesSlides/notesSlide8.xml" Id="R54cf1e265ecd4f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caf1cf1f947ed" /><Relationship Type="http://schemas.openxmlformats.org/officeDocument/2006/relationships/notesSlide" Target="/ppt/notesSlides/notesSlide9.xml" Id="Rf706f026ec7645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d99e9efc24ad3" /><Relationship Type="http://schemas.openxmlformats.org/officeDocument/2006/relationships/notesSlide" Target="/ppt/notesSlides/notesSlide10.xml" Id="R965a18aa92a14c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07B58A-2B26-4B65-A81D-D949390A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ПИТЧ · 5 МИНУТ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5EC92-66FC-4AF4-AC83-F5167C29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 ИИ-заключения — к следующему шагу пациента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8D5E8-00F4-4397-901C-DCA6C60F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Маршрут формируется и утверждается во время текущего приёма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2BCB9-7A64-4473-8634-3C9955A9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EDB66-FD64-4541-A9C0-2AA2BAA4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CBB9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56789-B2D6-40FD-AD59-1164BB20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BA00C-0C4A-49CE-8F2A-E8D4ACB3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A16C0-9C74-48F5-B886-03D3E045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B3485-3FCB-423D-B8C0-37780DED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Обследование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AB77F-7A5C-4333-A1C7-4F055CC1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41CA7-38C3-44F0-834F-715BE676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743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9A388-71C5-4F0B-BC22-4919EB08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C06CD5-36C6-4D0B-AE94-9CCD89D3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8BEEA-61DA-4539-8D38-5FA76F6E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ИИ / 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2B344-ED3E-4507-93F2-38C7B95A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FE8AD-0536-40E3-A7B3-7D061EBC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29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28264-5209-451E-B729-12408ED8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BDE5CF"/>
          </a:solidFill>
          <a:ln xmlns:a="http://schemas.openxmlformats.org/drawingml/2006/main" w="9525">
            <a:solidFill>
              <a:srgbClr val="BDE5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D3ED8-C5F0-4B55-8816-0FF63553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4F751-674F-4E41-B7C1-02D4B8DF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следующий шаг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C069-6A61-4FDB-8ACF-31FBCA97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A9E27-9E83-4139-BC58-DE3919E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15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1D940-E512-4620-8DEB-2F7D7515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0E885-9E71-4120-A31C-ABC4348C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9C627-B136-4A79-A325-DF57E901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Решение специалиста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3FAF7-A7BB-4791-B4B0-2BAA858C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956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0487E8-687D-4ABD-AA44-1B1FA8E0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01200" y="32289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015BF-55AD-445F-872D-D3B11727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62250"/>
            <a:ext cx="2019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255247"/>
          </a:solidFill>
          <a:ln xmlns:a="http://schemas.openxmlformats.org/drawingml/2006/main" w="9525">
            <a:solidFill>
              <a:srgbClr val="3B706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E92488-A7E2-494B-BA6F-5E690C2B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DE5C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43BFE3-020B-4E4E-8170-5542DFA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57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33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Запись и результат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2E903-2561-49E1-A508-465019D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Мы не читаем снимок повторно. Мы превращаем уже готовое заключение в подтверждённое и измеримое действие.</a:t>
            </a:r>
          </a:p>
        </p:txBody>
      </p:sp>
    </p:spTree>
    <p:extLst>
      <p:ext uri="{BB962C8B-B14F-4D97-AF65-F5344CB8AC3E}">
        <p14:creationId xmlns:p14="http://schemas.microsoft.com/office/powerpoint/2010/main" val="1687765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1722F3-A561-47A2-9BF1-CFFD4238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949B6-DBE2-41BC-8288-328177F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31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помогает описать находку. Дальнейший путь часто остаётся ручным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F142-FA81-4E2C-A27A-1A991553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Гипотеза роста: убрать разрыв между заключением, решением и записью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1E1F8-3D3F-4021-94C4-260BA23E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7734E-7409-4B4B-B040-CE01865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65A69-4906-41AF-B8EB-2800C8E7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D754E-1863-4373-B55D-4364A78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190875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2C273-4FD7-43CF-9F86-8460E9D6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8719C-472A-4812-AC6C-002605E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Уже есть в клинике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E966A-5ECA-4578-87E4-EF17CB76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27908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ИИ формирует дополнительную информацию и предварительно заполненный протокол исследования.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21198-A7AE-4DD5-A8DF-D5AC483A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190875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5D090-48C5-4E28-A9AE-1C950CC3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30779-8369-4BC1-BFF5-FE49AF09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33625"/>
            <a:ext cx="2790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Операционный разрыв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F1DC6-41D4-48DC-B689-AEBA6FF5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33675"/>
            <a:ext cx="27908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Следующий шаг нужно выбрать, утвердить, объяснить и связать со свободным временем и результатом.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29D8C-9865-4F28-B5F8-858938D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A5D06-0034-4829-95DE-4B00623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43125"/>
            <a:ext cx="57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31F4F-C4D6-438A-A273-71C59A7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Потенциал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0EA80-465C-4735-B2D3-454047F8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33675"/>
            <a:ext cx="293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Меньше ручной передачи между ролями; выше шанс довести пациента до нужного действия.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A4F1E-0043-4534-AC28-7B9FC811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48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25B2D-5D9F-4005-977D-B1D7AD4B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33813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EFDDC1-2D88-4DBC-A034-5ADD3B5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48050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2DA86-072D-434C-A7D6-EF608F7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10525" y="33813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3115FF-77A8-46EE-846D-82AFBD13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524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ADC1B-12F3-493D-9BAC-B23D7539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14950"/>
            <a:ext cx="2352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НЕИЗМЕРЕННАЯ ГИПОТЕЗА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C4343-3005-419A-A9B9-A48AAFFD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38750"/>
            <a:ext cx="776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70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 пилоте проверим каждое звено, а не будем приписывать потерям выдуманный процент.</a:t>
            </a:r>
          </a:p>
        </p:txBody>
      </p:sp>
    </p:spTree>
    <p:extLst>
      <p:ext uri="{BB962C8B-B14F-4D97-AF65-F5344CB8AC3E}">
        <p14:creationId xmlns:p14="http://schemas.microsoft.com/office/powerpoint/2010/main" val="1851600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55BFA-5C81-4280-9A7A-40FB352D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02B14-B0A1-4371-9A85-63DE177D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38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Один следующий шаг соединяет решение и действие пациента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1AE2A-52BC-4E5A-BD77-FE4D0995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результата создаётся новая связанная версия для следующего решения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BAAB4-7427-4913-82B5-51088947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CCA48-6F5F-4581-9549-000E94EB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68E19-648D-4FB9-9F31-943122BF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9C978-73F3-422F-86DC-779ACD45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09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05EE8-EC17-424A-8364-62E9FEF4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7645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ВО ВРЕМЯ ПРИЁМА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01253-6559-426B-BF65-AFAE7F4F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6B2D9-0DB5-45E4-BCD8-890DA53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08D948-CEC1-4965-B662-E4E10A66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 · Разбор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649C9-BD07-4B03-9455-CBBAB797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Известные поля JSON / SR → общие факты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6B32F-542A-4447-B346-20FD214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BFA9D-30B7-479E-B8FA-C187835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17C9F-FF91-47B8-AD4A-7FABA2AB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2 · Правила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AD8A2-23A1-4472-BB30-1852E151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шаг + указатели на поля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78FE7-4D9B-46D2-BA1A-6A6DBA3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3476625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87B1C-AA36-4C12-8AF4-9961FC19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3431F-DD92-4B88-B291-FC88451D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3 · 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95B18-0250-4783-A892-ED82CC09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3076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Специалист подтверждает или правит с причиной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447C5B-5745-41F6-B1E5-FB61897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00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5B4C7-500B-4C08-85C0-E3EE8D1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828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ПОСЛЕ ПРИЁМА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9B38F6-B901-4BBA-AF87-70FE44D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C5F9DD-9610-42E0-9997-B8813333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DA9A8-24C8-41BA-9EC1-AB22FAE3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 · Публикация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52763C-06B6-4164-A180-DA3A392E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Пациент видит лишь утверждённый шаг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78B87-6110-4498-844C-CABAD091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33D1BB-4D4B-4FD3-94C0-36B8EFD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1D989-88A8-4F86-BED9-A4160BB7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5 · Запись / анализ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9DE4A-2B04-40BC-84FA-289B7AA9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Подготовку можно организовать параллельно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713FCE-4C2F-4A26-97D2-AD7E28F7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3476625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528B1-5EA4-4D7E-A9EC-BC6FEB31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24375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AF1F35-C1AC-43DC-B11B-569E1FB8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3076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6 · Новый цикл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0BF3D-8391-4093-99AE-1CA286CA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14925"/>
            <a:ext cx="307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После результата снова решает специалист</a:t>
            </a:r>
          </a:p>
        </p:txBody>
      </p:sp>
    </p:spTree>
    <p:extLst>
      <p:ext uri="{BB962C8B-B14F-4D97-AF65-F5344CB8AC3E}">
        <p14:creationId xmlns:p14="http://schemas.microsoft.com/office/powerpoint/2010/main" val="17760665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12248B-15B3-48F9-A099-093BB4AB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A358C-8209-4365-91A9-3DE3C6C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BPMN: решение принимается до публикации пациенту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768A0-7412-4A3A-A20D-9A11A63E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Полная BPMN 2.0 модель с участниками и сообщениями — отдельный файл workflow.bpmn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36372-22B4-49EE-9E1D-C1B0FB11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6F2D94-0BEA-4D3E-A2E5-369C21D1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576CC-9B1E-429C-B7B6-000CD31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16406-B2B3-4917-9294-B5118C5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D5C39-D710-40D6-80DC-9AFBF18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ИИ / источник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9D627-E45F-4776-9241-96BAAB5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1200D-DFE5-42C5-AF05-0ADCBCCA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0CDD3-16FE-4286-8532-36970E25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Meditron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08F3D-BB25-4482-962C-FBD9C03E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9925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518FC-7263-4047-A0A1-C2A50EC4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AE720-366D-42FC-8A12-7366BDB5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32DCA-A865-4F14-9E61-B54004E3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100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65018-0147-439B-A308-CA03D289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E5C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72D87-BAB0-44AB-8B5C-B311DD0A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1171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SR готов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A236-667C-4F68-BD48-011CD951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1937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3C935-F5D9-4398-95FF-FE78E585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52950" y="25527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C7F06-0653-4885-8581-3880C16F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43150"/>
            <a:ext cx="16954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93AA2-D444-422E-ABAE-08D2A5E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193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Передать JSON / 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D714A-0E18-4AC2-99F4-3FAD7EA5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48075"/>
            <a:ext cx="295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3DC08-9C98-4049-AE61-56DB3944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718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7867A0-4EEB-4C1B-BEEE-CC58513F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480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BE260-D95F-4FA1-9D62-566C702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05425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04BC9-7E83-42B0-8B58-D1FD6A3D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B3A2F-2C28-4956-B2F6-3A81BE3C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9BB3C-DE92-46C6-B068-50F7B68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EC3E7-EE84-492E-9D7A-623A4A71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35814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7E0952-BBC1-4B1D-A369-D4AB5E4F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62B96-E230-4839-B0D5-08C1FCE3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43275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80A44-EBCD-47CE-BB92-406B854E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38525"/>
            <a:ext cx="1390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Разбор по профилю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859FF-4B74-40B1-B495-17254769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09950"/>
            <a:ext cx="504825" cy="5048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565BF8-5883-4E30-A3B5-27A97316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147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A733A9-1535-44CD-9693-4C020F7D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81375"/>
            <a:ext cx="1104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есть факты?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F82B5-4D75-495E-85EA-7911FA0B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14954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E693FC-26F9-4D90-98DC-955C28D0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304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0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Проект + trace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62F06-6140-4E32-B4F9-BEF3B62F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43275"/>
            <a:ext cx="15335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C2240D-56D7-48EA-8BD0-8316574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29000"/>
            <a:ext cx="1343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186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Получить решение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548632-EBA1-4A99-8FAB-7448141E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43400"/>
            <a:ext cx="1790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66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4AB8EE-E5E6-4B45-A516-2CC27126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2912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41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Проверить основания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B6B1B9-72D3-4DEB-A2BB-5345624C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3867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9CE698-852C-43B4-9C5F-4386C0E1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20225" y="45720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CA46CA-152D-4D77-9206-9C702657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00550"/>
            <a:ext cx="4953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19050">
            <a:solidFill>
              <a:srgbClr val="D6A35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1BFC38-8779-4773-B8CE-724F9E6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51485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6A352"/>
                </a:solidFill>
                <a:latin typeface="Helvetica Neue"/>
                <a:ea typeface="Helvetica Neue"/>
                <a:cs typeface="Helvetica Neue"/>
              </a:rPr>
              <a:t>?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3E5EDE-8ABF-4ACA-8802-630F6D95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33387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утвердить /</a:t>
            </a:r>
          </a:p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исправить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EF4DFD-01FE-4B51-9E38-B4E7CE69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338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2DE70A-60FC-4035-BA90-E44D0890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433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B7DBAB-2C9D-4FED-BEB6-E697715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37623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AE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BA9658-4FE1-4DC9-9AED-657D355D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86400"/>
            <a:ext cx="3590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подтверждения: пациенту не показывать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5574D0-767C-4453-9C3F-E0192F25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4006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Исправление создаёт новую версию и снова проходит проверку.</a:t>
            </a:r>
          </a:p>
        </p:txBody>
      </p:sp>
    </p:spTree>
    <p:extLst>
      <p:ext uri="{BB962C8B-B14F-4D97-AF65-F5344CB8AC3E}">
        <p14:creationId xmlns:p14="http://schemas.microsoft.com/office/powerpoint/2010/main" val="585879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57A6BF-2F1B-475A-8D2B-6E41A56D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БИЗНЕС-ПРОЦЕСС · ЧАСТЬ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ACD58-6FFB-4EFB-B41A-D5C5D6D5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После приёма путь продолжается по результату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A3355-F221-4711-B15F-E103DAEB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шаг, подготовка и новый проект после результата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3B211-9314-42BA-895A-6B03D72A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50290-755C-4567-AE7B-D53AE510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C1F76-F023-4DDD-A645-0E3B77A6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8A37A-E74C-435A-A41B-461E1798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8A097-1197-48DA-8A87-0E529406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Показ шага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DB353-D594-401F-A33B-7B118069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Только после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подтверждения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65106-6578-4388-9FE0-2AE7B3CD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54D7F-B9A1-4D44-A617-EE1EFE1C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0985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BF742-2310-4F9E-A0AC-C2EA5A6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E32EF-71B1-4E3D-B878-75E0310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10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Выбор пациента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359F5-3EC2-443C-94A3-08AF68E1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Записаться / отказаться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 вернуться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E0F6EB-ED06-4A60-B083-6C43964A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27D05-8F81-4F84-9D6C-64802FD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1012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70DBB-13D1-4E0E-97BB-01DF9BF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E12A2-7958-4079-B4A6-8F77752D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Запись / 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2522B-CFA1-45D5-A2EA-1629002A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Анализ до приёма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если нужен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4819D-7343-46A5-9311-49AB1CCE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6CAB2-4B93-4EA5-A83C-EC3E73AC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10400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09227F-C5E5-4D2F-BA52-1F45B20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AFA6E-ED8B-424B-A942-D10C914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2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Результат шага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A02FB-2558-4BA8-B782-311199A6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Факт и заключение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 услуге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4422BE-D609-4AE6-B141-8FB1DF8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4DC07-E435-4297-9E22-54B894A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10675" y="307657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FCE771-2344-49FA-9747-92559DD2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28875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E9044-6C44-4363-91BD-E5AA6127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43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Новая версия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CDBA80-CD01-42BC-BB5A-4E87023D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71825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новый шаг</a:t>
            </a:r>
          </a:p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или завершение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DCD7A-3774-4FDA-B0F8-410725FD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52578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6A3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5D11AE-8605-4DBC-A1C8-3A7A330F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Ключевой барьер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8252DE-7424-4668-BBD3-DF83BCDD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Следующий шаг появляется после результата и нового решения специалиста.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7744D7-0477-4061-9EC5-2453363B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5486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DD230E-E1BF-433D-AC31-E91EA059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Измеряемый след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E74FC3-F358-42F7-88B5-9A90102C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5000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7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Показ → запрос → подтверждение → визит; отказ и возврат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1313112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F57D6-A6F1-48E0-BF2C-93CA6759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14F0D-BC38-405E-BA70-E0A6950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Работает синтетический сквозной прототип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3BF0C-C451-4B26-A315-674BBA91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Проверяем поведение на воспроизводимых сценариях, не заявляя клиническую готовность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01306-8B51-484E-85B2-07BD9FDA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5BEC-9629-4AB0-8199-872636AF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D0EA1-0880-44F3-83F5-AE70D954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71a766ebd4611"/>
          <a:srcRect xmlns:a="http://schemas.openxmlformats.org/drawingml/2006/main" l="0" t="12026" r="0" b="120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43125"/>
            <a:ext cx="6238875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9B3C6-E944-459C-AEF1-02BA3CCC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D6FF5-2899-491C-87ED-89152BAD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JSON +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15A32-A24E-4784-B6D6-2BDDD0CB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2 входных представления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2902F-DAB3-4A42-804D-6CA94D9C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7C2A3-B4F1-4745-8B07-9CB7595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147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7 пар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490FA-0BB4-453E-B6E1-4F1EE7E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52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синтетических заключений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E160A-205E-480E-A9BA-BB45069A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00575"/>
            <a:ext cx="43815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6761F-0FF1-4DDC-8CC5-FD201355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434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110 + 8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FD66B-668C-4481-A92E-F2210EA5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81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backend и браузерных тестов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65DE7-DFA8-4593-94B1-2744E942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3352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E5687-C063-4677-B0C3-499A5355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62650"/>
            <a:ext cx="3181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976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HYPOTHESIS: медицинская матрица</a:t>
            </a:r>
          </a:p>
        </p:txBody>
      </p:sp>
    </p:spTree>
    <p:extLst>
      <p:ext uri="{BB962C8B-B14F-4D97-AF65-F5344CB8AC3E}">
        <p14:creationId xmlns:p14="http://schemas.microsoft.com/office/powerpoint/2010/main" val="57614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610E46-3E07-4041-9D7D-3238D027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РЫНОК И БИЗНЕС-МОДЕЛЬ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58267-97C4-4EE5-BF1E-6D9364A7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61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Покупатель — клиника с ИИ и потоком следующих действий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0F5D0-2B58-4E5E-B427-00D20D57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Мы встраиваемся между поставщиком заключения, специалистом и системой записи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EFE44-B266-4A17-9F29-51258135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01912-A6DB-40A9-9FDF-176F6C70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BC5CF-A93C-4D6A-91A1-4066C652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CFB0-F143-4D3B-94E1-9558DFDC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0934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Публичный сигнал: «Третье Мнение» сообщает о 10 млн обработанных исследований и работе в 58 регионах. Это не TAM Meditron.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C2915-11BC-4DA2-A504-DDFECF6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9D6A8-0FF6-4AFE-8C27-8068F15E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A2E2F-633F-4783-B05F-12F59502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ИИ диагностики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97901-A92A-401F-8B91-1B9F5101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Готовое описание и SR. Поставщик может развивать маршрутизацию.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9E7A4-09E9-4CA9-9B91-7E819DC7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C07F7-5BE5-4AD3-81D2-4D35E24F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F241C-801E-45F0-AEC9-F792DE84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МИС / запись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3F4B5-3883-4A24-8A54-63FC930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Расписание, слоты, коммуникации и факт услуги.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F7C09-6FDA-40F7-8ADC-29539F50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A5283-5E7B-441E-AA67-5723FAED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143F0A-5B87-49E1-8F18-C48DDBD0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CDS / аналитика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C9607-6B7B-4401-A881-C1690702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Поддержка решений на широких данных пациента.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F7859-93C7-46EF-8D27-88EBA3C6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25431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1ACFF4-EA19-4E93-9A7C-9CDB2CE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9800"/>
            <a:ext cx="57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6F9F8-1575-40D6-B5B4-6718469B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003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Meditron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474A7-4487-44C4-B950-047C9EF8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00350"/>
            <a:ext cx="214312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Исполнение маршрута из SR: версии, решение, запись, результат.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CD8BA-D215-43B3-B131-B2C09E2B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2578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4D7C2-27C7-4B25-A35A-15BE0573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Частная клиника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3E2758-5AEA-4E97-BFB3-B26482DB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81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6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Настройка + абонентская плата; эффект — запись и визит.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4EA57-B15F-4F8F-A50F-74325FB0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48225"/>
            <a:ext cx="5486400" cy="1038225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E3F52A-E0B9-406D-8488-92A5A866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815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Государственная клиника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EE451C-4698-4EF2-B679-167B83EC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054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Внедрение + сопровождение; эффект — завершение пути и время.</a:t>
            </a:r>
          </a:p>
        </p:txBody>
      </p:sp>
    </p:spTree>
    <p:extLst>
      <p:ext uri="{BB962C8B-B14F-4D97-AF65-F5344CB8AC3E}">
        <p14:creationId xmlns:p14="http://schemas.microsoft.com/office/powerpoint/2010/main" val="410271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D487AF-AC8A-4895-A693-3D0C60D0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UNIT-ЭКОНОМИКА ·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A31B6-9D75-4B81-8EC1-76F1C10C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94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Экономику определяет измеренный прирост завершённых действий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73948-A179-4BDF-8D42-C084F20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Иллюстрация на одну частную площадку в месяц; цены и uplift пока не подтверждены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E484F-EE90-4175-9C8C-D47E515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B6B17-2593-4FEB-BDF2-35C1482B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1E46B-1CFA-4453-BFFA-3FF622B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6A0C8-C765-4144-8381-6FEF91D9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96D72-8D1B-44C2-8004-64FCC479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AE09F-87A1-45E8-BB0A-91093E51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подходящих SR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376CB-8591-4C61-9921-26A81D9C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DEFE2-B635-40A9-946D-DAA2147A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BF629-EDC1-4881-8BD9-D90A327A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гипотетический uplift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9C196-2719-419C-82B2-DFE57FA4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355B1-3874-46AE-9769-AD077E9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BC96A-2270-4F5D-A28D-B80FAB88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дошли до визита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9A224-4732-4C39-B003-15FC38B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14550"/>
            <a:ext cx="2543175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397D0-5CE4-451E-8A19-F85E13B4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2 500 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5E4BE-7A4A-47F7-8657-8A89CA39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2190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вклад визита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51F79-D209-4A06-B736-F8C36FFF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800 × 3% × 80% × 2 500 ₽  =  48 000 ₽ / мес.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AAEAF-5B42-4EBC-B61C-55BA7EA1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52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При условной плате 30 000 ₽: порог для клиники = 1,875 п.п.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113DF-509F-40BC-8C38-7F6C4133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+1 п.п.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81E45E-D66E-4AD7-8DF4-11DBF33A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57775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E14D8-F636-4D8E-9AD1-5E5158F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16 тыс. 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9E7B0-A3A4-47B4-9687-288279E2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+3 п.п.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50A288-5256-4D1E-BA10-3648BD0D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3543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2221D-239B-46B5-8F49-12AE2891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3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48 тыс. 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F990A-705F-4BF0-9C9F-678E193A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+5 п.п.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1931A-D689-4C6F-944F-8596B16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72452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B7367F-C1F9-4383-BF61-FF68AE9A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67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80 тыс. 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26F03-ACCD-46A0-9668-BFF2F046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Без стоимости интеграции, загрузки врача, отмен и ограничений ёмкости.</a:t>
            </a:r>
          </a:p>
        </p:txBody>
      </p:sp>
    </p:spTree>
    <p:extLst>
      <p:ext uri="{BB962C8B-B14F-4D97-AF65-F5344CB8AC3E}">
        <p14:creationId xmlns:p14="http://schemas.microsoft.com/office/powerpoint/2010/main" val="19301854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42E41C-96D3-48B9-AB76-42E438B2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43E4D-0BDA-45C4-96DE-F916795A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17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Внедрение идёт через доказательства, а не через календарные обещания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AF5F7-66BE-4B42-932A-22BB388B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Каждый этап открывается только после проверки предыдущего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F3332-DB78-46CD-B254-0CE73841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54256-8E23-4C75-BE53-7222063B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20B0E-9D81-4C30-8583-EA7AB9B2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2BC21-CEA9-4DAB-BB08-ACC0F4A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0DCB5-AB4D-495E-A581-07D6EFC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61A8A-ECB2-4AD7-872E-CBD3D08F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006CA-BFBC-45ED-B6E1-1A94622E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F1A51-0F26-409F-93B6-ACFFBDE0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Синтетика, два контура, тесты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08AFA-4A96-4CA5-AD7D-B71BC1FB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D8A50-695B-4FD3-9609-C5DBFD0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Выполнено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87864-EB7F-476F-9D04-BA33ADA5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AC818D-C468-4690-9A7B-B81CFC25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795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A9334-D9B5-404B-BF4A-8CCF8830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8F312-4608-42FE-9E41-760A1448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4F198-636F-46D4-8031-0B0D4095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DC847-650B-4C02-91CD-E96B8D0A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Контракты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E0162-71D8-445C-84CA-21C5961A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Реальные SR, коды услуг, экспертная матрица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B850D-6121-4A63-846A-FCB89173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9C634-EE5B-4105-A4E7-BEFEC049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Согласовать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5ED8B-69D4-45E7-BF4A-82372A59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15A9D-F17A-4187-938E-8DBFE911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6727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13CFE-3AB9-47C1-A589-CF99B191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C4F3F-03AD-48AD-848B-2B1C8E0A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C9ECC-2E4E-4906-AD83-104A216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26B83B-0131-44D8-A842-BBDD986B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Теневой режим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3200D8-EBBC-4BB5-B3EA-0EAA9062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Разбор без публикации; полнота и время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69136-03C8-49EF-A2BB-90CDC0F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4DED82-70DD-4F68-A6F7-F7ADF97B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Измерить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9E91DD-6DFF-4CC2-BE79-FCF1332E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A63482-D580-4CB2-8C00-F532E68F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86600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AB5EA1-A4E6-45B2-A42D-E3127BE5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9C1453-5C2B-4A3B-90BB-834DFBE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F67680-B337-4942-85C3-1BC29514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8E17B-314D-4D2C-90C8-C4C456A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A1E8DA-17B9-47A0-8FD7-7ABE846F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Один поток, запись, контрольная группа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B54FD2-546A-43EC-B36C-49F3B54B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BFAF69-54C6-44CD-991A-38C6F11B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Проверить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8301AE-7DD4-4BF3-86E6-4E38EBB4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4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7CDA70-0249-4E47-AF5C-B664246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05925" y="3667125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46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F71428-D0AB-468E-890E-AFA3DD8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52675"/>
            <a:ext cx="2000250" cy="27813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7CA65E-3D64-4462-8C29-9B60AD8E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24125"/>
            <a:ext cx="381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C723E4-862C-4D6B-A489-2197ED55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62225"/>
            <a:ext cx="209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3526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095093-701E-4136-BA7E-4E839E3A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685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Масштаб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2E80C6-8856-4362-AFC5-D34C078F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38525"/>
            <a:ext cx="1685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Новые профили и типы учреждений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DC386C-B330-41BC-8C8F-2CA1DE10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67250"/>
            <a:ext cx="1695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E9EBCDB-0702-4A1A-B450-8CC3B500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772025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76B50"/>
                </a:solidFill>
                <a:latin typeface="Helvetica Neue"/>
                <a:ea typeface="Helvetica Neue"/>
                <a:cs typeface="Helvetica Neue"/>
              </a:rPr>
              <a:t>Повторить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C76C9A-445F-4BE1-A1DD-77AD4911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Гейт пилота: клиническая матрица, контрактные тесты, статус записи, безопасная публикация, метод оценки uplift.</a:t>
            </a:r>
          </a:p>
        </p:txBody>
      </p:sp>
    </p:spTree>
    <p:extLst>
      <p:ext uri="{BB962C8B-B14F-4D97-AF65-F5344CB8AC3E}">
        <p14:creationId xmlns:p14="http://schemas.microsoft.com/office/powerpoint/2010/main" val="118923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B6735-8861-4EA8-A022-E1171685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КОМАНДА · РИСКИ · ЗАПРОС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7F739-65EB-46D5-808E-AE06447B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Следующий шаг — совместная проверка в клинике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39C0-CB6C-4CC0-AD2C-085EB715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Состав команды по ролям; имена и подтверждённый опыт заполняются после согласования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C1F82-BA76-4006-B2F5-B14C27E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F96A3-AFD7-4083-8540-DC688AB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meditron.  ·  синтетический прототип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93F76-B7D7-4E5F-AF85-3F4B423A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23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F1A53-D825-4CA4-91C5-E69960EA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EDCA4-3362-4411-99FA-C677007F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Клинический эксперт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24A61-187A-4AAB-B186-44F48750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C7289-A0C9-43DC-9D25-CA3FDCD1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Backend / интеграции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8D443-375B-4F69-BA0C-1BF4E90F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EA4F6-1A6A-4AB3-8BED-44FEA5E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Product / UX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F79C70-EC05-474D-AE53-0ACBB295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200275"/>
            <a:ext cx="254317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F00CE-AB5B-44C3-AB42-BD362939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622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Аналитика / PM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0F72F1-877C-4616-937D-2CD0D8DA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57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F9340-1C6E-4F69-9BAE-B1EEAAD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Риски для пилота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BC264-0050-4C98-9954-267D7539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Правила не утверждены экспертом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SR может прийти после завершения приёма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Контракт записи и реальные статусы неизвестны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49190-3AC5-478E-A20F-8276A8B0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5486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FF71C-8460-4C42-9194-73AC6399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99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34"/>
                </a:solidFill>
                <a:latin typeface="Helvetica Neue"/>
                <a:ea typeface="Helvetica Neue"/>
                <a:cs typeface="Helvetica Neue"/>
              </a:rPr>
              <a:t>Что нужно от партнёра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B8E61-2C35-4460-9748-EE880FE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2907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Обезличенные примеры JSON / SR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Каталог услуг и тестовый контур записи</a:t>
            </a:r>
          </a:p>
          <a:p xmlns:a="http://schemas.openxmlformats.org/drawingml/2006/main">
            <a:pPr algn="l">
              <a:def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37E73"/>
                </a:solidFill>
                <a:latin typeface="Helvetica Neue"/>
                <a:ea typeface="Helvetica Neue"/>
                <a:cs typeface="Helvetica Neue"/>
              </a:rPr>
              <a:t>• Эксперт матрицы и согласие на пилотную оценку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53DCE-6D78-4CE8-9257-4F32DFAD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39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6653"/>
                </a:solidFill>
                <a:latin typeface="Helvetica Neue"/>
                <a:ea typeface="Helvetica Neue"/>
                <a:cs typeface="Helvetica Neue"/>
              </a:rPr>
              <a:t>Сегодня мы доказываем исполнимость процесса на синтетике. Следом проверим клиническую пригодность и реальный эффект.</a:t>
            </a:r>
          </a:p>
        </p:txBody>
      </p:sp>
    </p:spTree>
    <p:extLst>
      <p:ext uri="{BB962C8B-B14F-4D97-AF65-F5344CB8AC3E}">
        <p14:creationId xmlns:p14="http://schemas.microsoft.com/office/powerpoint/2010/main" val="361225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2026-10-04T17:26:53.1930000Z</dcterms:created>
  <dcterms:modified xsi:type="dcterms:W3CDTF">2026-10-04T17:26:53.1930000Z</dcterms:modified>
</coreProperties>
</file>