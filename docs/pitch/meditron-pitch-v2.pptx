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5a37a6241f48cd" /><Relationship Type="http://schemas.openxmlformats.org/officeDocument/2006/relationships/extended-properties" Target="/docProps/app.xml" Id="R76a4b3d192104161" /><Relationship Type="http://schemas.openxmlformats.org/officeDocument/2006/relationships/officeDocument" Target="/ppt/presentation.xml" Id="Rd26353cc5b1147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d139048a5e4b6f"/>
  </p:sldMasterIdLst>
  <p:notesMasterIdLst>
    <p:notesMasterId xmlns:r="http://schemas.openxmlformats.org/officeDocument/2006/relationships" r:id="Rc1f65b4f4d2349f1"/>
  </p:notesMasterIdLst>
  <p:sldIdLst>
    <p:sldId xmlns:r="http://schemas.openxmlformats.org/officeDocument/2006/relationships" id="256" r:id="Rdc7163a0b4fb47cb"/>
    <p:sldId xmlns:r="http://schemas.openxmlformats.org/officeDocument/2006/relationships" id="257" r:id="R1cf2721402d041f9"/>
    <p:sldId xmlns:r="http://schemas.openxmlformats.org/officeDocument/2006/relationships" id="258" r:id="Rf14ea088620a4925"/>
    <p:sldId xmlns:r="http://schemas.openxmlformats.org/officeDocument/2006/relationships" id="259" r:id="R465eb94dac754172"/>
    <p:sldId xmlns:r="http://schemas.openxmlformats.org/officeDocument/2006/relationships" id="260" r:id="Rcde5895227a6468d"/>
    <p:sldId xmlns:r="http://schemas.openxmlformats.org/officeDocument/2006/relationships" id="261" r:id="Rbd108ec2cfb04c77"/>
    <p:sldId xmlns:r="http://schemas.openxmlformats.org/officeDocument/2006/relationships" id="262" r:id="R9c620e5337a94123"/>
    <p:sldId xmlns:r="http://schemas.openxmlformats.org/officeDocument/2006/relationships" id="263" r:id="R35a3b3c1f20e4730"/>
    <p:sldId xmlns:r="http://schemas.openxmlformats.org/officeDocument/2006/relationships" id="264" r:id="R87c65c5ee0d44abc"/>
    <p:sldId xmlns:r="http://schemas.openxmlformats.org/officeDocument/2006/relationships" id="265" r:id="Ra8021e929fc745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80cd5e3c3a4b53" /><Relationship Type="http://schemas.openxmlformats.org/officeDocument/2006/relationships/slideMaster" Target="/ppt/slideMasters/slideMaster1.xml" Id="R40d139048a5e4b6f" /><Relationship Type="http://schemas.openxmlformats.org/officeDocument/2006/relationships/notesMaster" Target="/ppt/notesMasters/notesMaster1.xml" Id="Rc1f65b4f4d2349f1" /><Relationship Type="http://schemas.openxmlformats.org/officeDocument/2006/relationships/presProps" Target="/ppt/presProps.xml" Id="R824d36d6ddc543d9" /><Relationship Type="http://schemas.openxmlformats.org/officeDocument/2006/relationships/tableStyles" Target="/ppt/tableStyles.xml" Id="R7e15bf281ebb43f0" /><Relationship Type="http://schemas.openxmlformats.org/officeDocument/2006/relationships/slide" Target="/ppt/slides/slide1.xml" Id="Rdc7163a0b4fb47cb" /><Relationship Type="http://schemas.openxmlformats.org/officeDocument/2006/relationships/slide" Target="/ppt/slides/slide2.xml" Id="R1cf2721402d041f9" /><Relationship Type="http://schemas.openxmlformats.org/officeDocument/2006/relationships/slide" Target="/ppt/slides/slide3.xml" Id="Rf14ea088620a4925" /><Relationship Type="http://schemas.openxmlformats.org/officeDocument/2006/relationships/slide" Target="/ppt/slides/slide4.xml" Id="R465eb94dac754172" /><Relationship Type="http://schemas.openxmlformats.org/officeDocument/2006/relationships/slide" Target="/ppt/slides/slide5.xml" Id="Rcde5895227a6468d" /><Relationship Type="http://schemas.openxmlformats.org/officeDocument/2006/relationships/slide" Target="/ppt/slides/slide6.xml" Id="Rbd108ec2cfb04c77" /><Relationship Type="http://schemas.openxmlformats.org/officeDocument/2006/relationships/slide" Target="/ppt/slides/slide7.xml" Id="R9c620e5337a94123" /><Relationship Type="http://schemas.openxmlformats.org/officeDocument/2006/relationships/slide" Target="/ppt/slides/slide8.xml" Id="R35a3b3c1f20e4730" /><Relationship Type="http://schemas.openxmlformats.org/officeDocument/2006/relationships/slide" Target="/ppt/slides/slide9.xml" Id="R87c65c5ee0d44abc" /><Relationship Type="http://schemas.openxmlformats.org/officeDocument/2006/relationships/slide" Target="/ppt/slides/slide10.xml" Id="Ra8021e929fc745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2abdbe8a7143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cbfbb1eef24f9c" /><Relationship Type="http://schemas.openxmlformats.org/officeDocument/2006/relationships/notesMaster" Target="/ppt/notesMasters/notesMaster1.xml" Id="R0b8e92d4e16349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50e64946094639" /><Relationship Type="http://schemas.openxmlformats.org/officeDocument/2006/relationships/notesMaster" Target="/ppt/notesMasters/notesMaster1.xml" Id="R63c352cd7e9049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538c2384e149da" /><Relationship Type="http://schemas.openxmlformats.org/officeDocument/2006/relationships/notesMaster" Target="/ppt/notesMasters/notesMaster1.xml" Id="Rfe77f091131b43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95835a73fd4b2a" /><Relationship Type="http://schemas.openxmlformats.org/officeDocument/2006/relationships/notesMaster" Target="/ppt/notesMasters/notesMaster1.xml" Id="Rb581335e88ad45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975ccd54f64031" /><Relationship Type="http://schemas.openxmlformats.org/officeDocument/2006/relationships/notesMaster" Target="/ppt/notesMasters/notesMaster1.xml" Id="R89063266d1ac4d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e254a66cc74c95" /><Relationship Type="http://schemas.openxmlformats.org/officeDocument/2006/relationships/notesMaster" Target="/ppt/notesMasters/notesMaster1.xml" Id="R95afcb445bdf4d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3242de5b1e4fdb" /><Relationship Type="http://schemas.openxmlformats.org/officeDocument/2006/relationships/notesMaster" Target="/ppt/notesMasters/notesMaster1.xml" Id="R77174d699e0947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4f321adbf242ce" /><Relationship Type="http://schemas.openxmlformats.org/officeDocument/2006/relationships/notesMaster" Target="/ppt/notesMasters/notesMaster1.xml" Id="Ra6a40a5432be49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1b6e08fc80410f" /><Relationship Type="http://schemas.openxmlformats.org/officeDocument/2006/relationships/notesMaster" Target="/ppt/notesMasters/notesMaster1.xml" Id="R902377b7a19f4e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cfd2fa70ff412c" /><Relationship Type="http://schemas.openxmlformats.org/officeDocument/2006/relationships/notesMaster" Target="/ppt/notesMasters/notesMaster1.xml" Id="Rc9f9e670d6ea4c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кейс пользователя: страницы 1–3 PDF «Кейс_Третье_мнение.pdf». Продуктовая формулировка и статус: docs/architecture.md, docs/implementation-status.md. Реальный uplift не измерен.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описания уже применяемого ИИ: https://thirdopinion.ai/ (лучевая диагностика и предварительно заполненный протокол). Операционный разрыв сформулирован в предоставленном пользователем кейсе, страницы 1–2. Процент потерь неизвестен.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Принятое продуктовое решение: docs/architecture.md. В текущем синтетическом прототипе реализованы оба контура; клинические правила HYPOTHESIS, реальные внешние интеграции не готовы. По предоставленному БФТ поля JSON/SR структурированы, поэтому NLP в текущем пути не применяется.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является сокращённым представлением формальной BPMN 2.0 модели docs/pitch/workflow.bpmn. Полная модель включает ручной путь при недостатке фактов, цикл исправления и отдельный пациентский процесс. Корректность правил пока не утверждена медицинским экспертом.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Продуктовый workflow: docs/architecture.md, docs/implementation-status.md. Валовая синтетическая конверсия в коде считается до подтверждённой записи, не до фактического визита; uplift неизвестен. Файл docs/pitch/workflow.bpmn содержит вторую формальную BPMN-диаграмму продолжения.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статус на 04.10.2026: docs/implementation-status.md и docs/evaluation-results-synthetic.json. 94 backend теста, 7 браузерных; семь пар JSON/SR. Изображение: frontend/test-results/reviewer.png, снято на синтетическом демо. Реальные Kafka/PACS/МИС и клиническая валидация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Рынок сегментирован по задаче, численный TAM не утверждается. 10 млн исследований и 58 регионов — самоописание «Третьего Мнения» на https://thirdopinion.ai/ по состоянию на 04.10.2026, не объём доступного рынка или годовой поток. Платформенный вектор: https://thirdopinion.ai/tpost/5s66ygpj11-orgzdrav-2026-anna-mescheryakova-o-platf. Смежные продукты: https://www.medesk.ru/ (МИС и запись), https://webiomed.ru/ (аналитика/CDS). Это сравнение категорий, не доказательство отсутствия функциональности у конкурентов. Цены являются гипотезой.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значения на слайде являются допущениями, а не результатом пилота. Полная формула и чувствительность: docs/pitch/economics.json. Реальная конверсия и uplift не измерены. Валовая метрика прототипа: docs/implementation-status.md. Чтобы приписывать причинный эффект, нужна контрольная группа. Для госучреждений финансовая логика и закупка отличаются.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0 соответствует текущему синтетическому прототипу: docs/implementation-status.md. Этапы 1–4 являются планом, сроки зависят от доступности партнёрских контрактов и медицинского эксперта. Дорожная карта подробнее: docs/pitch/diagrams.md.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кейс перечисляет востребованные роли, но фактический состав команды, имена и индивидуальные достижения не сообщены пользователем. Не выдавать эти роли за уже нанятую команду. Риски и статус прототипа: docs/architecture.md и docs/implementation-status.md. Запрос к партнёру предложен как следующий этап.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783b9ff1345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d6efadc49f47de" /><Relationship Type="http://schemas.openxmlformats.org/officeDocument/2006/relationships/slideLayout" Target="/ppt/slideLayouts/slideLayout1.xml" Id="R4025d89a6b9c45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25d89a6b9c45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59f4af0ba46bb" /><Relationship Type="http://schemas.openxmlformats.org/officeDocument/2006/relationships/notesSlide" Target="/ppt/notesSlides/notesSlide1.xml" Id="R6d6ae66514dd4d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219fb652b49cb" /><Relationship Type="http://schemas.openxmlformats.org/officeDocument/2006/relationships/notesSlide" Target="/ppt/notesSlides/notesSlide2.xml" Id="Reb37734e08fc4b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3cf9e750544ab" /><Relationship Type="http://schemas.openxmlformats.org/officeDocument/2006/relationships/notesSlide" Target="/ppt/notesSlides/notesSlide3.xml" Id="R040d29b4a84f41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77de88df44090" /><Relationship Type="http://schemas.openxmlformats.org/officeDocument/2006/relationships/notesSlide" Target="/ppt/notesSlides/notesSlide4.xml" Id="R470b1ee1be5942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f89abff34437a" /><Relationship Type="http://schemas.openxmlformats.org/officeDocument/2006/relationships/notesSlide" Target="/ppt/notesSlides/notesSlide5.xml" Id="Re38c6514a74048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4d27d459f4f27" /><Relationship Type="http://schemas.openxmlformats.org/officeDocument/2006/relationships/image" Target="/ppt/media/image.png" Id="R6293a36647af4e21" /><Relationship Type="http://schemas.openxmlformats.org/officeDocument/2006/relationships/notesSlide" Target="/ppt/notesSlides/notesSlide6.xml" Id="Rb699bc685fa840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f206bbd1f4e7c" /><Relationship Type="http://schemas.openxmlformats.org/officeDocument/2006/relationships/notesSlide" Target="/ppt/notesSlides/notesSlide7.xml" Id="R6478ad912d7341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b64b7082641d0" /><Relationship Type="http://schemas.openxmlformats.org/officeDocument/2006/relationships/notesSlide" Target="/ppt/notesSlides/notesSlide8.xml" Id="R03c7f6e98d004c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a9df663b040c9" /><Relationship Type="http://schemas.openxmlformats.org/officeDocument/2006/relationships/notesSlide" Target="/ppt/notesSlides/notesSlide9.xml" Id="R84431f31c81248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8d8ca39c24853" /><Relationship Type="http://schemas.openxmlformats.org/officeDocument/2006/relationships/notesSlide" Target="/ppt/notesSlides/notesSlide10.xml" Id="Rd523c9efdb9748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327BF-B08F-4C7E-A7B7-C2B52AEC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ПИТЧ · 5 МИНУТ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1CB38-D7A1-4D31-A832-BD7DFA92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От ИИ-заключения — к следующему шагу пациента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E5A67-1F58-4CF1-ADE5-5483FFEB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Маршрут формируется и утверждается во время текущего приёма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C499C-C867-4F78-BB86-4A417840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9DA29-E982-41B8-9A72-66271E70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B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CBB9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74267-AB09-450D-B2D3-A2AEA180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42279-D160-4A20-81AF-FFE51F19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8825D-4431-44F9-9A9A-87FF2E11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396C3-9EC8-4975-A929-208A6B81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Обследование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BAE7A-3B25-49FE-841D-5E7D2C2B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C7B88-D8C5-406C-ADB5-1C420B0A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43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40E5D-BB6A-4DB3-B70F-A2359C7F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4BBD6-CFCA-47E7-883D-F00737AF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FCD6F-A534-4476-89B2-AF833453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ИИ / SR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86D56-0168-4690-9750-03D4AC5A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FD398-549A-4F1B-9E82-1FCD4867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29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DF50C-E799-44AE-B622-229D85FD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BDE5CF"/>
          </a:solidFill>
          <a:ln xmlns:a="http://schemas.openxmlformats.org/drawingml/2006/main" w="9525">
            <a:solidFill>
              <a:srgbClr val="BDE5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248933-97B8-4E67-AB3F-9FC70BE8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5AEDB-17C3-4E9C-9707-1289686E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Проект пути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0C795-014D-4C25-8513-24378A4F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A5815-4C61-4605-9C93-2CC943C3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15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B5FD5-BA1A-4922-894D-09D287D0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C3D80-BE23-48C9-8EBA-B2D7D7DC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CBD5DD-74C4-4E3B-B736-AAF87FFF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Решение специалиста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C1432-6BBC-45F4-A760-4743C47F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0B41CF-50B3-4692-8B35-1643E060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01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A512A2-19C2-40DE-B2DC-0BFA4CB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4842C7-356F-4419-AE15-837401EC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6FF99D-FD2F-493D-AF0A-ADEBBBF1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33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Запись и результат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BE09CC-7BDD-4FB1-8D9F-555C6660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Мы не читаем снимок повторно. Мы превращаем уже готовое заключение в подтверждённое и измеримое действие.</a:t>
            </a:r>
          </a:p>
        </p:txBody>
      </p:sp>
    </p:spTree>
    <p:extLst>
      <p:ext uri="{BB962C8B-B14F-4D97-AF65-F5344CB8AC3E}">
        <p14:creationId xmlns:p14="http://schemas.microsoft.com/office/powerpoint/2010/main" val="2079058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CBE4E1-D627-4700-8123-05AFD4E6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80992-A000-4D25-BF9A-B085A88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31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ИИ помогает описать находку. Дальнейший путь часто остаётся ручным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8E1A1-EFE1-402E-862A-6D3E490C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Гипотеза роста: убрать разрыв между заключением, решением и записью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4C9A7-C0B4-4C01-9E8D-3D9276CA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86335-402C-433C-A3B6-FCEA4F95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BC466-3017-462C-8EC1-5A043537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C8007-9E12-48E9-B4FE-85B8E132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190875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37902-ADBD-47DB-BB7F-92023FF7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A22AB-53F6-4A5E-91C2-CDBB34C9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2790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Уже есть в клинике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3AF05-1069-4A47-9FA6-A28D8E3B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33675"/>
            <a:ext cx="27908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ИИ формирует дополнительную информацию и предварительно заполненный протокол исследования.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22CCD-8CF2-45A0-8841-4E52DBEB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190875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D9867-8913-4174-9F3E-4EAC60F2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3A50A-B109-4936-8D39-F9EC013C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33625"/>
            <a:ext cx="2790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Операционный разрыв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0D8C6-8EB8-44BD-BA19-4CC05DFF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33675"/>
            <a:ext cx="27908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Следующий шаг нужно выбрать, утвердить, объяснить и связать со свободным временем и результатом.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BA255-1DE1-4BCB-A0EF-6D1E38BD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43125"/>
            <a:ext cx="3333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EE264-EA10-45EC-B0D3-9284C1BD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43125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A5EE5-85A2-46CC-A131-0B62D133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362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Потенциал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FE9DC-AA75-42B2-90A5-FA5F2243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33675"/>
            <a:ext cx="29337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Меньше ручной передачи между ролями; выше шанс довести пациента до нужного действия.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347D8-2250-48DD-B50C-E0DBB73F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48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A590B-6206-40A4-9C49-ECB05F4D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91000" y="33813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D348D-12DE-4D24-9F78-8242C4A9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48050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3CFA7-7D54-4804-9FCC-9DC06156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10525" y="33813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63017-A728-496C-87CF-F4DE05E0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5241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36240-A319-4789-BA47-892EAD8C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14950"/>
            <a:ext cx="2352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НЕИЗМЕРЕННАЯ ГИПОТЕЗА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7514D-3310-473B-BAF2-38F5B6F0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38750"/>
            <a:ext cx="776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70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 пилоте проверим каждое звено, а не будем приписывать потерям выдуманный процент.</a:t>
            </a:r>
          </a:p>
        </p:txBody>
      </p:sp>
    </p:spTree>
    <p:extLst>
      <p:ext uri="{BB962C8B-B14F-4D97-AF65-F5344CB8AC3E}">
        <p14:creationId xmlns:p14="http://schemas.microsoft.com/office/powerpoint/2010/main" val="350921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F5328-D703-4BF1-8CE9-C1B009BC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C910B-6686-4DCC-9C86-47BF5556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4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Один маршрут связывает клиническое решение и действия пациента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78C2F-F059-4E78-B97C-ABED1FE3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Два контура работают вокруг одной утверждённой версии пути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D4927-3B66-4769-807F-7E818098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DF63C-FB47-481C-92D5-6C8296D8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F740D-FB22-4785-AEDF-6861CD78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BD907-6797-4E12-8CF9-0E919481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209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6CC8B-FE29-4A62-852D-D6965A4F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76450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ВО ВРЕМЯ ПРИЁМА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9DD08-D201-48CB-A01F-9441B8F5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BB827-CE16-4617-BEC9-A57D168C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94847-4DD4-4C8A-8630-99A3B770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1 · Разбор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FDC1C-144F-494C-923B-7FB02F56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076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Известные поля JSON / SR → общие факты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F2108-6BE2-4AE7-8016-C28CEFE9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5D712-3F6E-4D46-9DA0-BCB2CCFD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DA54C-61D7-476F-81D5-2DA1289A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2 · Правила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E054A-CF69-4950-BE17-223F013A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3076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Условные шаги + указатели на поля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663B7-5062-43EC-ABC3-4ABC5175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805A3-B802-4E75-82F7-E1C5BDB0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66D48-D26E-464A-BEE7-BAB56C95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3 · Решение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A44E2-39D6-4B89-B819-85ADB71E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67050"/>
            <a:ext cx="3076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Специалист подтверждает или правит с причиной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E32FA-6B9E-4B63-9693-356C3EB7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00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D9D72-4032-4037-8D34-B04EC681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ПОСЛЕ ПРИЁМА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0007D-1896-4000-B18D-433F2B0A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476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982AA-DE8F-49FD-BDAA-FDBC79B0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326C6-BBD9-4890-937C-5A9E4B80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4 · Публикация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17E0D-088C-446A-9BD4-C170F92D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4925"/>
            <a:ext cx="307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Пациент видит лишь подтверждённый путь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F49E38-AA91-4258-AFB5-6C26A136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3476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D9592-C8E5-4AC5-8439-FCC9292E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8A0F4C-36D7-45CE-AC75-86C7E916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148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5 · Запись / отказ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FD8D26-4DA2-454A-AF09-32BE7817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14925"/>
            <a:ext cx="307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Выбор времени или отказ с причиной и возврат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B8005F-CA3F-4D06-A284-A2132E5D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3476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B01497-FC4D-411F-8616-F2690614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A2A470-5D7F-4CE3-89D4-10AF975F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148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6 · Результат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6A435A-028D-4C9D-8B0D-9D6B6537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14925"/>
            <a:ext cx="307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Зависимый шаг открывается только по результату</a:t>
            </a:r>
          </a:p>
        </p:txBody>
      </p:sp>
    </p:spTree>
    <p:extLst>
      <p:ext uri="{BB962C8B-B14F-4D97-AF65-F5344CB8AC3E}">
        <p14:creationId xmlns:p14="http://schemas.microsoft.com/office/powerpoint/2010/main" val="730348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CE71E6-514C-4401-9602-54266B6F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БИЗНЕС-ПРОЦЕСС · ЧАСТЬ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8E8EE-A48E-4021-A152-2E5F56EE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0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BPMN: решение принимается до публикации пациенту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73ADD-D0BF-4FE5-81CC-E6F7704F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Полная BPMN 2.0 модель с участниками и сообщениями — отдельный файл workflow.bpmn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47CAF-A4D8-4C2F-BC9A-E6073371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9C3E4-7930-44EF-9F9A-28F5C559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4E642-29C8-4A53-B9DA-E5C24D44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2A21A-CE38-4350-82CA-84CB120D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3EAF6-B838-4661-B75D-756BE985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ИИ / источник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24F53-5763-4C7C-8BDD-DB1AE8A1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0980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BC191-AE1A-4D7E-93BB-5893C269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11554-FE27-4280-9DA4-91AB8ED2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Meditron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287BC-96FB-4696-8FBE-00502027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9925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C82C1-79B5-43EB-B056-373C10D9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D4434-DC7C-4A59-826C-90015908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6246F-8678-42BE-BF61-CF5D0E86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100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1A013-CED4-4F30-8914-B4891703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66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58FC6-3E40-4FA7-A84D-801BE6C8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SR готов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1E36D-A5B7-4DBB-AADD-B47715B2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193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0B474-BFF4-479D-8CBC-EDDED129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52950" y="25527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23188-1D09-4BBA-9806-44F9CADE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43150"/>
            <a:ext cx="16954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323DA-EBC4-4694-A1F1-3C1E0C89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193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Передать JSON / SR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382AE-3461-4CCA-8F17-03D68040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48075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82607-AEA5-463C-98BA-91567309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71825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062B8-073B-4244-8803-1E94387A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48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BF0803-F042-4BEA-83B2-DFA423BA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05425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0325D-D1AA-471F-89E4-047E3ECE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4807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69B039-234A-47E8-8348-E18F3FE4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24E491-7D56-4E29-86B3-1B83CAE0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4807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FC3571-051D-49E6-A85C-03B016D6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25000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09FCA8-276E-429B-BEA5-71F51595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3C472A-4283-4EE8-BB0E-7ED46603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43275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C8F7F9-D453-40BD-AB53-90E897DD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38525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Разбор по профилю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9FA71-234F-4E71-A3D1-D0E892FD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09950"/>
            <a:ext cx="504825" cy="504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19050">
            <a:solidFill>
              <a:srgbClr val="D6A3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C74AED-5E46-42E2-950C-7202D761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147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BB52A2-3609-46EB-B698-8D7E89BD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8137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есть факты?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AE523F-79DF-4E39-A61C-AF5C6182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43275"/>
            <a:ext cx="14954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B04BBA-5612-4BCC-912B-42A9B5BD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29000"/>
            <a:ext cx="1304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60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Проект + trace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4A5556-D118-4F62-9A6F-F4896045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43275"/>
            <a:ext cx="15335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C55FD9-AEC1-4776-9D59-C251B5CB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29000"/>
            <a:ext cx="1343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8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Получить решение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BAB723-BC91-4A6E-9E5D-0C0BBFE3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4340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6A42FA-44E7-4670-A58A-951D2A55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29125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4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Проверить основания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268110-B374-4817-8905-B6708D22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38675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40AFE5-A736-40CC-839B-85BD8F0A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20225" y="45720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CF710A-CBF8-4488-8842-87AFC9CD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00550"/>
            <a:ext cx="495300" cy="495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19050">
            <a:solidFill>
              <a:srgbClr val="D6A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1B386D-16A1-428B-B0D3-D0491BBA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51485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3D4794-4487-4693-8E17-4254AF74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333875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утвердить /</a:t>
            </a:r>
          </a:p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исправить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A45379-A5A9-45BA-B478-CFAB128D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338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B4F20A-8981-4958-82B8-8A5EBC8F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433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FC3B5A-1792-44C2-921E-1AD65B9A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37623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DA0355-420B-40BB-9B47-D6AE82A7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86400"/>
            <a:ext cx="3590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без подтверждения: пациенту не показывать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F7E980-968F-4B64-ACFC-A72B4E6A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0067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Исправление создаёт новую версию и снова проходит проверку.</a:t>
            </a:r>
          </a:p>
        </p:txBody>
      </p:sp>
    </p:spTree>
    <p:extLst>
      <p:ext uri="{BB962C8B-B14F-4D97-AF65-F5344CB8AC3E}">
        <p14:creationId xmlns:p14="http://schemas.microsoft.com/office/powerpoint/2010/main" val="2055076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8DEDB2-9D78-47DA-8D5E-6A4AE1D2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БИЗНЕС-ПРОЦЕСС · ЧАСТЬ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58E07-4F02-46D5-B944-BCB11926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68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После приёма путь остаётся управляемым до результата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3D242-F601-4C51-99A4-EC26BDB0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Пациент выбирает время, а система хранит причину отказа и условия продолжения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03660-6AF9-4FE3-96A7-024E4336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9C7D0-F0D6-4527-A9A4-E09BD625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A4BB7-F764-4DAB-B0BC-0DFC8948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A5A16-39B2-4075-9A25-82729B32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19999-8A0B-4EA1-8098-DDECD996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Показ версии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48D8E-ADCC-4BF5-B693-6A6E6A83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Только после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подтверждения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1C50A-8CEB-4CBB-9D12-EE5A672E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CC6F2-2307-483E-8686-462A48CB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09850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1D54D-0D93-4D1E-A4F1-6D422952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CF35E-1668-415E-B9BB-53919EEE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1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Выбор пациента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CC3BF-E9A1-4EF1-B9BC-17E390CD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Записаться / отказаться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 вернуться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323B0-D135-4C72-9FF3-F20ED05E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35A7B-93B5-44AA-9138-D204577B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10125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04612-588D-4D84-8E40-71460B4E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5AD5B-195F-489D-A93F-8D32A8E4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42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Статус записи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F0B4A-F3A0-47A8-AAA1-D5F5AAD6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Подтверждение МИС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или нет слота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39E12-BEFD-4A4D-911C-EA5939FA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4E612-94FD-4F50-B7C6-D3471D08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10400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FAE59-8F31-461A-95A9-F4A8846D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B24AC-CBA2-4BC2-8386-0ECDD060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2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Результат шага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083D3-7CEC-4A70-B52C-033BC4DB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0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Факт и заключение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 услуге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4FC1FD-E50E-479B-9C83-A86B5D6B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74065-02F0-4EBC-BEA6-52EBCF6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10675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081BA1-3276-4DB9-A2E7-430F8C68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4EAFE-DFC4-4CB7-88C9-58AC7603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Следующий шаг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82C687-DC2B-4B2B-9767-77F0D53A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Открыть по условию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или завершить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9DF9E0-D3BB-464E-AC16-E6F051F1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257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6A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981838-D603-42FE-AF73-9DF3BB21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Ключевой барьер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41FF6-D4CC-4FC4-A48F-458FFE0E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57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Запись сама по себе не открывает зависимый шаг. Нужен результат.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727F6-7973-47CD-8B9E-49C66EB2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5486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55C27E-7B4B-4CA5-AE27-7B0738B3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Измеряемый след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C65282-6729-499C-B53B-3E09F3A8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500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57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Показ → запрос → подтверждение → визит; отказ и возврат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5988298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21F4B-2A6D-4891-8493-BBABD9E2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7989E-01A4-45C0-8DE1-5C118436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Работает синтетический сквозной прототип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6AB47-3566-4D6B-88A8-B8A2D68A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Проверяем поведение на воспроизводимых сценариях, не заявляя клиническую готовность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67087-50A6-4EB5-B0BA-302EFF33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10088-765C-4633-8F99-3276D1F9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38A2E-9D3B-4DD7-9D56-E24341FC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3a36647af4e21"/>
          <a:srcRect xmlns:a="http://schemas.openxmlformats.org/drawingml/2006/main" l="0" t="14511" r="0" b="145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43125"/>
            <a:ext cx="6238875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FA180-4051-4DB6-94F5-EC8A958E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43815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6C0CF-3E55-4639-900B-847D131C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JSON + 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F7508-22A3-4D42-9E44-68F54209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2 входных представления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B7FBA-A592-4399-8273-AB855912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43815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8716E-AF34-4359-B225-7A092779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147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7 пар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29B3C-3657-4049-ACD9-EC27C6D1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52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синтетических заключений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39277-4AAB-4A10-9F44-363A633F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00575"/>
            <a:ext cx="43815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D32F3-6D5B-490C-94AA-24A0F558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434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94 + 7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44410-1637-49D1-B430-B1006A8D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81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backend и браузерных тестов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B8883-0D0F-40A7-8D28-D9C6CFBA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3352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974D5-D415-4304-AB24-3D11494F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6265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HYPOTHESIS: медицинская матрица</a:t>
            </a:r>
          </a:p>
        </p:txBody>
      </p:sp>
    </p:spTree>
    <p:extLst>
      <p:ext uri="{BB962C8B-B14F-4D97-AF65-F5344CB8AC3E}">
        <p14:creationId xmlns:p14="http://schemas.microsoft.com/office/powerpoint/2010/main" val="1048313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2187EC-09DA-4FCB-9109-8A7F8406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РЫНОК И БИЗНЕС-МОДЕЛЬ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47045-42E2-47ED-9A45-8CDE959D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61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Покупатель — клиника с ИИ и потоком следующих действий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E0252-C0B2-410D-8685-14F6DF75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Мы встраиваемся между поставщиком заключения, специалистом и системой записи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02E50-D0DC-4EB8-AAF3-1A1A6664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B6148-6D84-4597-8DCF-60212E20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50F94-534C-4253-9185-27E463F5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A6685-D23A-465D-94AB-7FA2E024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0934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Публичный сигнал: «Третье Мнение» сообщает о 10 млн обработанных исследований и работе в 58 регионах. Это не TAM Meditron.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05A15-E552-48FB-B326-E1C52542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C343A-2CB5-49DB-AA46-EA64C1C6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299F0-25C0-487B-B52A-A807E95F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ИИ диагностики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A6557-6120-48C9-BE00-C15AA1E2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Готовое описание и SR. Поставщик может развивать маршрутизацию.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EA0ED-9FFE-4A48-ADB0-6824B001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2923D-9D60-41C6-885A-B72666D1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1DE58-2033-47B6-92A5-3A821779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МИС / запись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D9314-F532-481B-87D4-CD79F6F3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Расписание, слоты, коммуникации и факт услуги.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F7D94-1020-4027-81BB-2EC35859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56CDF-E6F9-48D2-8D91-4DD13C4F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DFEEC-DC0A-4982-B301-6ECEC4DC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CDS / аналитика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D8884-90B5-48ED-A596-1551539A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Поддержка решений на широких данных пациента.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73231E-C715-4098-AFBA-48F17FD3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8FE6E-1AD8-4F50-9396-F6537B0F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A8BF8-08D2-4A4A-851E-5EE377B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Meditron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AB3D8C-C2AD-4F63-8D6D-07DD543B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Исполнение маршрута из SR: версии, решение, запись, результат.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A1199-8F57-4F04-8A4C-8ED048F9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52578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8F205-E53C-4469-AFC4-479E2DF1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Частная клиника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303BC-1496-4B79-826C-7C57D13E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6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Настройка + абонентская плата; эффект — запись и визит.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055536-2D91-4537-818B-95E5B6F0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48225"/>
            <a:ext cx="54864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05DF96-AFD2-4B94-BF94-464A2053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815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Государственная клиника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9C088B-8EB5-4508-84F5-645BF8F9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054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Внедрение + сопровождение; эффект — завершение пути и время.</a:t>
            </a:r>
          </a:p>
        </p:txBody>
      </p:sp>
    </p:spTree>
    <p:extLst>
      <p:ext uri="{BB962C8B-B14F-4D97-AF65-F5344CB8AC3E}">
        <p14:creationId xmlns:p14="http://schemas.microsoft.com/office/powerpoint/2010/main" val="20027361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3689CE-B83C-4820-800E-5CA2F3D4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UNIT-ЭКОНОМИКА ·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89ADF-549E-454E-9F0B-672EB40D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94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Экономику определяет измеренный прирост завершённых действий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B6CBE-6981-42EA-8FCE-9AD7123A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Иллюстрация на одну частную площадку в месяц; цены и uplift пока не подтверждены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8FF78-E390-4636-B7F9-928089F4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B7DCC-457F-496D-A920-5BDF7752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13286-5712-438D-89A1-4D768121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5DEB9-A598-4529-AA86-5D26F999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9583D-264F-4078-A270-5B498323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800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1E0D5-C994-4D73-8C28-8F5075D1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подходящих 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3E22E-9226-4DE5-92DE-74461A30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EDB0C-E87C-42BB-8D9F-3F905C9C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+3 п.п.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51074-530E-4CD0-A811-A4202D36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гипотетический uplift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A50B7-5D91-49EC-97F3-E734AFE3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A765B-A81F-44C3-BDB9-8BC57CD9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978FD-5DE3-4A22-8CE4-7BD86380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дошли до визита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55FB9-9636-4C92-A79D-BE0BCB90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E619C-537E-438D-933C-18D5D8B7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2 500 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61A07-F222-4DD4-B9D8-AFCD458F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вклад визита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761D6-D18A-442A-901F-C48E140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800 × 3% × 80% × 2 500 ₽  =  48 000 ₽ / мес.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DA1ED-AF2B-4950-849A-690A2976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1052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При условной плате 30 000 ₽: порог для клиники = 1,875 п.п.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3F6FB-BF90-4D16-8733-3A215BBB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96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+1 п.п.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DF467-3421-4149-9716-37ACE658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46A34C-778E-4EF0-B44B-B87B564D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16 тыс. 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06E4E-BEAB-42A9-A488-0036A7E4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+3 п.п.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32E36-6654-41F4-A379-D31C6A50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91150"/>
            <a:ext cx="3543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44065-D11E-4650-9853-0CBE63C4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34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48 тыс. 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739896-C7DC-411C-B7E4-68D0A2C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+5 п.п.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340319-73C9-478E-A5F6-FA09FDFF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2452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3B8D43-34F3-4E3E-8670-04B0033E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67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80 тыс. 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91D14B-E119-4AFE-ACE7-08B18C3D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Без стоимости интеграции, загрузки врача, отмен и ограничений ёмкости.</a:t>
            </a:r>
          </a:p>
        </p:txBody>
      </p:sp>
    </p:spTree>
    <p:extLst>
      <p:ext uri="{BB962C8B-B14F-4D97-AF65-F5344CB8AC3E}">
        <p14:creationId xmlns:p14="http://schemas.microsoft.com/office/powerpoint/2010/main" val="6267243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DE249E-BDF1-4568-8D0B-3D931490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ДОРОЖНАЯ 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DFB44-737C-4C15-ADAC-E15DC755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17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Внедрение идёт через доказательства, а не через календарные обещания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6CBD5-0AAD-4390-8791-3B8738C5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Каждый этап открывается только после проверки предыдущего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7312B-E9A0-4391-844C-310B5A86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1EC1B-E48B-49DF-98EE-8749D957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6ED08-E0F3-41C4-90BF-C48E75D3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B0461-3783-401F-8288-3CAD7A9D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A8234-6506-4A9B-9C41-4B603280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258AB-3D41-46C9-849D-E604B13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B2D97-C8BD-46E2-BEE7-D97EEFE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97795-1033-4BBC-80DA-4061D491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Синтетика, два контура, тесты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2683A-CCC5-401E-9A44-264EB81E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BCBDC-FF89-4291-9ED3-7DDE0AB2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Выполнено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D144F-ADEB-4F0E-B45D-2F93219E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F0F53-A7B7-4591-93B9-2AEE0A56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7950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0B4B6-E15A-4E55-AD9A-1BA823EA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15BF8-B9B5-44B2-A532-A19D3A0D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D9CF5-F5FF-423A-B95B-DC7A42DF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8F7D0-025B-4D94-9832-46C7390D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Контракты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0EC30-B398-4020-90C7-E0B80F6F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Реальные SR, коды услуг, экспертная матрица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0219E-E666-416C-8FB0-8AC53523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07477-4B51-4EA0-A3C3-86B7E3BC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Согласовать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AEBE9-1E54-4E0B-95F9-460B4283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0C36E-8D92-4DE7-AC63-FEA6475E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67275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B194F8-C6C3-4662-A6E0-48DEAF54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6EC68-AEBE-4106-83F4-4ADEE8AF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4B398D-51E6-4F01-8CB5-ED2F49FE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D9E19A-0057-47AD-B857-6DE9FC83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8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Теневой режим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60874-1E5F-4F5D-9FCF-FE2429E7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Разбор без публикации; полнота и время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531350-9EA3-4D6E-A0E9-9B9D3EDD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10E5F6-7280-448A-A0B4-4C3D8945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Измерить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F5C2DB-9E2D-4835-B9BC-DC073ECA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71E0CB-46C1-417B-BC13-9313287E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86600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A14121-6D11-4BE6-AD00-69807019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8C0F96-68DF-4AD5-9801-9F715874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9A0E5A-B7E3-4183-8218-ACA11536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7BF761-05E4-4236-BA7D-DB93A04A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35542B-59C9-413C-9CD1-47E5E155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Один поток, запись, контрольная группа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C3D996-59B8-4672-9005-5584B652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250D32-9CDB-49DF-8E8F-7BC89C84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Проверить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2BBB19-9400-4F34-98BB-AFC25684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F47079-7175-44DE-A370-E83E9965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05925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8637D3-46DF-45BD-8210-77027F04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ADEBFF-8989-449A-B65A-A4316EC9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FF0B67-751A-469C-AE17-6C561B83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5D6344-3E33-4CFF-86CF-ED69B836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Масштаб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3C5233-0B08-4A3A-B380-7B0FBDA3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Новые профили и типы учреждений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0C716B-27F4-4CBB-87CA-57AE85C1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643260-2982-4664-882A-395F278A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Повторить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7F6480-8173-4EA9-9E9C-A5DB004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Гейт пилота: клиническая матрица, контрактные тесты, статус записи, безопасная публикация, метод оценки uplift.</a:t>
            </a:r>
          </a:p>
        </p:txBody>
      </p:sp>
    </p:spTree>
    <p:extLst>
      <p:ext uri="{BB962C8B-B14F-4D97-AF65-F5344CB8AC3E}">
        <p14:creationId xmlns:p14="http://schemas.microsoft.com/office/powerpoint/2010/main" val="19970627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D26E0C-1CBB-4D41-9DB3-F6F54E47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КОМАНДА · РИСКИ · ЗАПРОС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FF044-A0E8-470B-951C-81FE4DED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Следующий шаг — совместная проверка в клинике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2F434-DEDF-4FD3-BB46-78DB1383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Состав команды по ролям; имена и подтверждённый опыт заполняются после согласования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82AE8-0359-4B2A-8D31-DBD69029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76102-FCC8-4935-AFA3-306C7114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5FDAD-060B-4E64-9C4B-AEFA79E3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0F66F-20F3-4539-A9BF-7F04E7FB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C18F3-6379-45E2-9915-33B6BDC5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Клинический эксперт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83960-CC7C-4572-937E-617A9229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48519-473E-4C35-8757-EB1CDC62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Backend / интеграции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2AB40-BD7A-4890-A3BF-8D4F51C9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5CE59-C58C-4812-BF69-8D311E52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Product / UX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6BBF5-D1C7-40F2-A91D-17FCDAF5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03C55-AC28-4F00-8A62-A1AD806E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Аналитика / PM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6A651-C7B3-4C1A-A0A6-277B0427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57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30E3A-695B-404A-86E3-BAC75A40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Риски для пилота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6077E-46CC-4D89-BCB7-244BBE63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Правила не утверждены экспертом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SR может прийти после завершения приёма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Контракт записи и реальные статусы неизвестны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1A3D3-E665-46FD-8B92-1BE2005D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5486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7AC5D-EBD1-4BA4-879C-9CC1BFD9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99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Что нужно от партнёра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1A7FA-24F3-4670-A302-D60E39CC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2907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Обезличенные примеры JSON / SR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Каталог услуг и тестовый контур записи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Эксперт матрицы и согласие на пилотную оценку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2588D-8F7D-4EF6-BCAF-59BEACD1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39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Сегодня мы доказываем исполнимость процесса на синтетике. Следом проверим клиническую пригодность и реальный эффект.</a:t>
            </a:r>
          </a:p>
        </p:txBody>
      </p:sp>
    </p:spTree>
    <p:extLst>
      <p:ext uri="{BB962C8B-B14F-4D97-AF65-F5344CB8AC3E}">
        <p14:creationId xmlns:p14="http://schemas.microsoft.com/office/powerpoint/2010/main" val="54551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2026-10-04T14:22:03.3100000Z</dcterms:created>
  <dcterms:modified xsi:type="dcterms:W3CDTF">2026-10-04T14:22:03.3100000Z</dcterms:modified>
</coreProperties>
</file>