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5703197acd45ec" /><Relationship Type="http://schemas.openxmlformats.org/officeDocument/2006/relationships/extended-properties" Target="/docProps/app.xml" Id="Ra3f0dc0fbe0d41ec" /><Relationship Type="http://schemas.openxmlformats.org/officeDocument/2006/relationships/officeDocument" Target="/ppt/presentation.xml" Id="R17a3fab04be644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d9122b8b4b40c7"/>
  </p:sldMasterIdLst>
  <p:notesMasterIdLst>
    <p:notesMasterId xmlns:r="http://schemas.openxmlformats.org/officeDocument/2006/relationships" r:id="R07c4bae2154c4b82"/>
  </p:notesMasterIdLst>
  <p:sldIdLst>
    <p:sldId xmlns:r="http://schemas.openxmlformats.org/officeDocument/2006/relationships" id="256" r:id="R15ea794515384084"/>
    <p:sldId xmlns:r="http://schemas.openxmlformats.org/officeDocument/2006/relationships" id="257" r:id="R76fbec7537c24891"/>
    <p:sldId xmlns:r="http://schemas.openxmlformats.org/officeDocument/2006/relationships" id="258" r:id="R267d0fef1d0f461b"/>
    <p:sldId xmlns:r="http://schemas.openxmlformats.org/officeDocument/2006/relationships" id="259" r:id="Rb6f27a4985a64bf2"/>
    <p:sldId xmlns:r="http://schemas.openxmlformats.org/officeDocument/2006/relationships" id="260" r:id="Rb1a071e555b342dd"/>
    <p:sldId xmlns:r="http://schemas.openxmlformats.org/officeDocument/2006/relationships" id="261" r:id="R1e55211b5a664394"/>
    <p:sldId xmlns:r="http://schemas.openxmlformats.org/officeDocument/2006/relationships" id="262" r:id="R1f7097dda5bb41cf"/>
    <p:sldId xmlns:r="http://schemas.openxmlformats.org/officeDocument/2006/relationships" id="263" r:id="R34ce873f155a46ba"/>
    <p:sldId xmlns:r="http://schemas.openxmlformats.org/officeDocument/2006/relationships" id="264" r:id="R73ee456eec634c12"/>
    <p:sldId xmlns:r="http://schemas.openxmlformats.org/officeDocument/2006/relationships" id="265" r:id="R13603f15270a49da"/>
    <p:sldId xmlns:r="http://schemas.openxmlformats.org/officeDocument/2006/relationships" id="266" r:id="R418143bd7ee54192"/>
    <p:sldId xmlns:r="http://schemas.openxmlformats.org/officeDocument/2006/relationships" id="267" r:id="R442c7d060cad4417"/>
    <p:sldId xmlns:r="http://schemas.openxmlformats.org/officeDocument/2006/relationships" id="268" r:id="R8d022a55faa440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31f12dc98d4e6d" /><Relationship Type="http://schemas.openxmlformats.org/officeDocument/2006/relationships/slideMaster" Target="/ppt/slideMasters/slideMaster1.xml" Id="Rbfd9122b8b4b40c7" /><Relationship Type="http://schemas.openxmlformats.org/officeDocument/2006/relationships/notesMaster" Target="/ppt/notesMasters/notesMaster1.xml" Id="R07c4bae2154c4b82" /><Relationship Type="http://schemas.openxmlformats.org/officeDocument/2006/relationships/presProps" Target="/ppt/presProps.xml" Id="Rc1fe6d55eb6341ca" /><Relationship Type="http://schemas.openxmlformats.org/officeDocument/2006/relationships/tableStyles" Target="/ppt/tableStyles.xml" Id="Rb10aae0e39de4467" /><Relationship Type="http://schemas.openxmlformats.org/officeDocument/2006/relationships/slide" Target="/ppt/slides/slide1.xml" Id="R15ea794515384084" /><Relationship Type="http://schemas.openxmlformats.org/officeDocument/2006/relationships/slide" Target="/ppt/slides/slide2.xml" Id="R76fbec7537c24891" /><Relationship Type="http://schemas.openxmlformats.org/officeDocument/2006/relationships/slide" Target="/ppt/slides/slide3.xml" Id="R267d0fef1d0f461b" /><Relationship Type="http://schemas.openxmlformats.org/officeDocument/2006/relationships/slide" Target="/ppt/slides/slide4.xml" Id="Rb6f27a4985a64bf2" /><Relationship Type="http://schemas.openxmlformats.org/officeDocument/2006/relationships/slide" Target="/ppt/slides/slide5.xml" Id="Rb1a071e555b342dd" /><Relationship Type="http://schemas.openxmlformats.org/officeDocument/2006/relationships/slide" Target="/ppt/slides/slide6.xml" Id="R1e55211b5a664394" /><Relationship Type="http://schemas.openxmlformats.org/officeDocument/2006/relationships/slide" Target="/ppt/slides/slide7.xml" Id="R1f7097dda5bb41cf" /><Relationship Type="http://schemas.openxmlformats.org/officeDocument/2006/relationships/slide" Target="/ppt/slides/slide8.xml" Id="R34ce873f155a46ba" /><Relationship Type="http://schemas.openxmlformats.org/officeDocument/2006/relationships/slide" Target="/ppt/slides/slide9.xml" Id="R73ee456eec634c12" /><Relationship Type="http://schemas.openxmlformats.org/officeDocument/2006/relationships/slide" Target="/ppt/slides/slide10.xml" Id="R13603f15270a49da" /><Relationship Type="http://schemas.openxmlformats.org/officeDocument/2006/relationships/slide" Target="/ppt/slides/slide11.xml" Id="R418143bd7ee54192" /><Relationship Type="http://schemas.openxmlformats.org/officeDocument/2006/relationships/slide" Target="/ppt/slides/slide12.xml" Id="R442c7d060cad4417" /><Relationship Type="http://schemas.openxmlformats.org/officeDocument/2006/relationships/slide" Target="/ppt/slides/slide13.xml" Id="R8d022a55faa440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5bb058bae34d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f529ef306746c5" /><Relationship Type="http://schemas.openxmlformats.org/officeDocument/2006/relationships/notesMaster" Target="/ppt/notesMasters/notesMaster1.xml" Id="R5822c5a3dd5745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dc06cb84664da4" /><Relationship Type="http://schemas.openxmlformats.org/officeDocument/2006/relationships/notesMaster" Target="/ppt/notesMasters/notesMaster1.xml" Id="R73ddf288520045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06e0adeb0d4c02" /><Relationship Type="http://schemas.openxmlformats.org/officeDocument/2006/relationships/notesMaster" Target="/ppt/notesMasters/notesMaster1.xml" Id="R8388e5adf0904a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79736b12964076" /><Relationship Type="http://schemas.openxmlformats.org/officeDocument/2006/relationships/notesMaster" Target="/ppt/notesMasters/notesMaster1.xml" Id="R8351910041cd4c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fb4e6c210d45ff" /><Relationship Type="http://schemas.openxmlformats.org/officeDocument/2006/relationships/notesMaster" Target="/ppt/notesMasters/notesMaster1.xml" Id="R0d70189bdb784b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882f4fcd004a5f" /><Relationship Type="http://schemas.openxmlformats.org/officeDocument/2006/relationships/notesMaster" Target="/ppt/notesMasters/notesMaster1.xml" Id="Raacd4e3718c94c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dd8dfa24674527" /><Relationship Type="http://schemas.openxmlformats.org/officeDocument/2006/relationships/notesMaster" Target="/ppt/notesMasters/notesMaster1.xml" Id="R0447fdae0ac249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011029e5274ce9" /><Relationship Type="http://schemas.openxmlformats.org/officeDocument/2006/relationships/notesMaster" Target="/ppt/notesMasters/notesMaster1.xml" Id="R912a52a7d8ef4f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53612274094b52" /><Relationship Type="http://schemas.openxmlformats.org/officeDocument/2006/relationships/notesMaster" Target="/ppt/notesMasters/notesMaster1.xml" Id="R4c975c5a94374c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95a39a1d734801" /><Relationship Type="http://schemas.openxmlformats.org/officeDocument/2006/relationships/notesMaster" Target="/ppt/notesMasters/notesMaster1.xml" Id="Ra2602e154c1b49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36eecc517f4136" /><Relationship Type="http://schemas.openxmlformats.org/officeDocument/2006/relationships/notesMaster" Target="/ppt/notesMasters/notesMaster1.xml" Id="R0b691758a09149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6626cd1a4cf4c3d" /><Relationship Type="http://schemas.openxmlformats.org/officeDocument/2006/relationships/notesMaster" Target="/ppt/notesMasters/notesMaster1.xml" Id="Rb81590e7028544c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ab9e9fe1d1f4662" /><Relationship Type="http://schemas.openxmlformats.org/officeDocument/2006/relationships/notesMaster" Target="/ppt/notesMasters/notesMaster1.xml" Id="R6c03eef69d3b43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Исходный кейс пользователя: страницы 1–3 PDF «Кейс_Третье_мнение.pdf». Продуктовая формулировка и статус: docs/architecture.md, docs/implementation-status.md. Реальный uplift не измерен.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«Третье Мнение» о DICOM SR: https://thirdopinion.ai/mmg. Систематический обзор 19 исследований: 1.0–35.7% радиологических результатов без последующего наблюдения, разные условия и определения: https://pubmed.ncbi.nlm.nih.gov/22183961/. РКИ по просроченным аномальным скринингам, 11 980 пациентов: 22.9% usual care, 31.4% outreach+navigation за 120 дней; 8.5 п.п. скорректированная разница: https://pubmed.ncbi.nlm.nih.gov/37815566/. Нельзя переносить эти доли на конкретную клинику или обещать такую эффективность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Принятое продуктовое решение: docs/architecture.md и docs/model-routing.md. В синтетическом прототипе работают оба контура и CatBoost, обученный воспроизводить матрицу; клиническая эффективность не подтверждена. По предоставленному БФТ поля JSON/SR структурированы, поэтому NLP в текущем пути не применяется.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Фактический код: backend/app/domain/model_routing.py и scripts/train_route_model.py. Обучение повторяет 76 синтетических комбинаций старой матрицы, независимая клиническая оценка отсутствует. CatBoost поддерживает числовые и категориальные признаки: https://catboost.ai/docs/en/features/categorical-features. Архитектура: docs/model-routing.md.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перечень реализованных или запланированных механизмов Patient pathway. Версии, один шаг, кабинет, запись и аудит реализованы в синтетическом контуре. Экспертная разметка правок и пакетное переобучение следующей версии модели запланированы, не действуют автоматически. Сравнение функциональности конкретных конкурентов не проводилось.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Схема является сокращённым представлением формальной BPMN 2.0 модели docs/pitch/workflow.bpmn. Полная модель включает ручной путь при недостатке фактов, цикл исправления и отдельный пациентский процесс. Корректность правил пока не утверждена медицинским экспертом.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Продуктовый workflow: docs/architecture.md, docs/implementation-status.md. Валовая синтетическая конверсия в коде считается до подтверждённой записи, не до фактического визита; uplift неизвестен. Файл docs/pitch/workflow.bpmn содержит вторую формальную BPMN-диаграмму продолжения.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РКИ: https://pubmed.ncbi.nlm.nih.gov/25668008/ — SMS за 48 часов ДО назначенного скрининга; 59.1% vs 64.4% явки в intention-to-treat. Это обосновывает проверку SMS как канала, но не доказывает предложенное время после заключения, два сообщения или рост записи у Patient pathway. Обзор https://pubmed.ncbi.nlm.nih.gov/24310741/ подтверждает эффект SMS на явку, а не конкретную каскадную схему. В текущем коде есть только демонстрационное событие уведомления; планировщика SMS нет. Не отправлять подробности о находке в SMS, учитывать согласие, остановку после записи или отказа.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Фактический статус на 04.10.2026: docs/implementation-status.md и docs/evaluation-results-synthetic.json. 110 backend тестов, 8 браузерных; семь пар JSON/SR. Изображение: frontend/test-results/reviewer.png, снято на синтетическом демо. Реальные Kafka/PACS/МИС и клиническая валидация отсутствуют.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Рынок сегментирован по задаче, численный TAM не утверждается. 10 млн исследований и 58 регионов — самоописание «Третьего Мнения» на https://thirdopinion.ai/ по состоянию на 04.10.2026, не объём доступного рынка или годовой поток. Платформенный вектор: https://thirdopinion.ai/tpost/5s66ygpj11-orgzdrav-2026-anna-mescheryakova-o-platf. Смежные продукты: https://www.medesk.ru/ (МИС и запись), https://webiomed.ru/ (аналитика/CDS). Это сравнение категорий, не доказательство отсутствия функциональности у конкурентов. Цены являются гипотезой.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значения на слайде являются допущениями, а не результатом пилота. Полная формула и чувствительность: docs/pitch/economics.json. Реальная конверсия и uplift не измерены. Валовая метрика прототипа: docs/implementation-status.md. Чтобы приписывать причинный эффект, нужна контрольная группа. Для госучреждений финансовая логика и закупка отличаются.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0 соответствует текущему синтетическому прототипу: docs/implementation-status.md. Этапы 1–4 являются планом, сроки зависят от доступности партнёрских контрактов и медицинского эксперта. Дорожная карта подробнее: docs/pitch/diagrams.md.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Исходный кейс перечисляет востребованные роли, но фактический состав команды, имена и индивидуальные достижения не сообщены пользователем. Не выдавать эти роли за уже нанятую команду. Риски и статус прототипа: docs/architecture.md и docs/implementation-status.md. Запрос к партнёру предложен как следующий этап.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f5830826ed40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d3a92c6ed448f3" /><Relationship Type="http://schemas.openxmlformats.org/officeDocument/2006/relationships/slideLayout" Target="/ppt/slideLayouts/slideLayout1.xml" Id="R0961679964364a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61679964364a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037e764c149fe" /><Relationship Type="http://schemas.openxmlformats.org/officeDocument/2006/relationships/notesSlide" Target="/ppt/notesSlides/notesSlide1.xml" Id="R0956321c4b114a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3acd9e2d245f4" /><Relationship Type="http://schemas.openxmlformats.org/officeDocument/2006/relationships/notesSlide" Target="/ppt/notesSlides/notesSlide2.xml" Id="R9df45bad50a946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f648a90ba469b" /><Relationship Type="http://schemas.openxmlformats.org/officeDocument/2006/relationships/notesSlide" Target="/ppt/notesSlides/notesSlide3.xml" Id="Ra8338e9e085d4f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4d16f0b6f840f5" /><Relationship Type="http://schemas.openxmlformats.org/officeDocument/2006/relationships/notesSlide" Target="/ppt/notesSlides/notesSlide4.xml" Id="Rad51569d21fa48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d9db274d24ab3" /><Relationship Type="http://schemas.openxmlformats.org/officeDocument/2006/relationships/notesSlide" Target="/ppt/notesSlides/notesSlide5.xml" Id="R5d9b2366d8f746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b39d749524bbe" /><Relationship Type="http://schemas.openxmlformats.org/officeDocument/2006/relationships/notesSlide" Target="/ppt/notesSlides/notesSlide6.xml" Id="R3c24d9ccbf9940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77f28c3e94b51" /><Relationship Type="http://schemas.openxmlformats.org/officeDocument/2006/relationships/notesSlide" Target="/ppt/notesSlides/notesSlide7.xml" Id="Rbd46e2b484ce4a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675efe8d3c47fe" /><Relationship Type="http://schemas.openxmlformats.org/officeDocument/2006/relationships/notesSlide" Target="/ppt/notesSlides/notesSlide8.xml" Id="R0d6b9a89a19d46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4198356af4dfa" /><Relationship Type="http://schemas.openxmlformats.org/officeDocument/2006/relationships/image" Target="/ppt/media/image.png" Id="Rbda3a5061c6a4f67" /><Relationship Type="http://schemas.openxmlformats.org/officeDocument/2006/relationships/notesSlide" Target="/ppt/notesSlides/notesSlide9.xml" Id="Rc4bff3222bb542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fb29144244077" /><Relationship Type="http://schemas.openxmlformats.org/officeDocument/2006/relationships/notesSlide" Target="/ppt/notesSlides/notesSlide10.xml" Id="R6b2c4ea998cf44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88a7d4eea4522" /><Relationship Type="http://schemas.openxmlformats.org/officeDocument/2006/relationships/notesSlide" Target="/ppt/notesSlides/notesSlide11.xml" Id="R279d80d1aec6405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f46a9e6fb428e" /><Relationship Type="http://schemas.openxmlformats.org/officeDocument/2006/relationships/notesSlide" Target="/ppt/notesSlides/notesSlide12.xml" Id="R32d708b2ecc641b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3b387c31247a2" /><Relationship Type="http://schemas.openxmlformats.org/officeDocument/2006/relationships/notesSlide" Target="/ppt/notesSlides/notesSlide13.xml" Id="R595c60c2200343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B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5CB7F5-C6AC-4477-B17F-6EEA072C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rPr>
              <a:t>ПИТЧ · 8 МИНУТ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E3C41-4DDF-499C-BD42-3CBC29C6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Patient pathway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A4E34-517A-4649-860A-0889E9E8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DE5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DE5CF"/>
                </a:solidFill>
                <a:latin typeface="Helvetica Neue"/>
                <a:ea typeface="Helvetica Neue"/>
                <a:cs typeface="Helvetica Neue"/>
              </a:rPr>
              <a:t>Следующий шаг после ИИ-заключения: решение во время приёма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01D56-AC40-41CB-8F90-F3B8F7D8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04ED3-0DF4-4CC6-A7FA-797D9645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CBB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9CBB9"/>
                </a:solidFill>
                <a:latin typeface="Helvetica Neue"/>
                <a:ea typeface="Helvetica Neue"/>
                <a:cs typeface="Helvetica Neue"/>
              </a:rPr>
              <a:t>Patient pathway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40AD4-15F2-4ACF-B2EB-A4412306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6FBFE1-7C0D-47E8-96E5-46507BC1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0"/>
            <a:ext cx="2019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55247"/>
          </a:solidFill>
          <a:ln xmlns:a="http://schemas.openxmlformats.org/drawingml/2006/main" w="9525">
            <a:solidFill>
              <a:srgbClr val="3B706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AF675-5953-4D91-9D1E-FAA7349A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330514-BFD7-49E6-A2E7-70FE642E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Обследование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80ADC-F4D8-4136-B806-9FF46281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2956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82F72D-9E79-421C-BADD-830228D8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743200" y="32289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E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60490C-99A0-4873-A371-39D99B7B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62250"/>
            <a:ext cx="2019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55247"/>
          </a:solidFill>
          <a:ln xmlns:a="http://schemas.openxmlformats.org/drawingml/2006/main" w="9525">
            <a:solidFill>
              <a:srgbClr val="3B706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939A31-BE1A-4771-A9CD-AD18EC0A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337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7A033E-5D25-4970-AA60-8F0071EC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575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ИИ / SR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214EA0-E7EB-4D7B-BF3B-7C891E8F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2956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2FC3EC-2BA3-4CB1-A021-C4B53001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029200" y="32289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E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DBA64A-A832-44D2-9E86-4BA6A2EC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62250"/>
            <a:ext cx="2019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BDE5CF"/>
          </a:solidFill>
          <a:ln xmlns:a="http://schemas.openxmlformats.org/drawingml/2006/main" w="9525">
            <a:solidFill>
              <a:srgbClr val="BDE5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191F57-40D9-42DD-B430-9788B4D0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337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68B806-E041-4C77-907D-6AE567A5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2575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19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Один следующий шаг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7C33FA-0DEA-428A-B472-6AB3A534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2956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64BD9A-0004-4DF2-9072-15A35482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315200" y="32289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E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1CD474-48E6-4750-8D11-0E114DC8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62250"/>
            <a:ext cx="2019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55247"/>
          </a:solidFill>
          <a:ln xmlns:a="http://schemas.openxmlformats.org/drawingml/2006/main" w="9525">
            <a:solidFill>
              <a:srgbClr val="3B706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E50F25-3CC9-4895-B2AE-2DFA4FC4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337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39B4CB-6688-45B9-A889-C09A39F3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575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19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Решение специалиста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5656E4-6427-4137-84A8-FB551A40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2956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907918-66D4-496E-BBCE-A4AE7DDC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601200" y="32289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E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7FE345-73F2-44D9-AA1A-50CB877E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762250"/>
            <a:ext cx="2019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55247"/>
          </a:solidFill>
          <a:ln xmlns:a="http://schemas.openxmlformats.org/drawingml/2006/main" w="9525">
            <a:solidFill>
              <a:srgbClr val="3B706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29F7CB-42E1-4F1B-8D6A-E3C7B721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9337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BE7587-AC7F-4FB2-9C8E-B957C58E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2575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733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Запись и результат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31D36C-D005-4BDB-9E3F-22E7933B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Мы не читаем снимок повторно. Мы превращаем уже готовое заключение в подтверждённое и измеримое действие.</a:t>
            </a:r>
          </a:p>
        </p:txBody>
      </p:sp>
    </p:spTree>
    <p:extLst>
      <p:ext uri="{BB962C8B-B14F-4D97-AF65-F5344CB8AC3E}">
        <p14:creationId xmlns:p14="http://schemas.microsoft.com/office/powerpoint/2010/main" val="10995002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6567EA-F957-460D-89CB-D79D09D8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ПРОБЛЕМА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6A42F-E74E-4E73-AAA3-A51DB940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После ИИ-заключения остаётся разрыв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47DFFF-8037-468B-A57F-75F413B7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Без управляемого перехода находка, решение и запись остаются разными событиями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F6EC5-4682-4465-B13A-02D88139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17415-EFA2-4B78-AAF8-25D808DE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Patient pathway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1EEC1-E16D-4E67-9C35-F552DE9C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6B348B-383D-4C93-8B1D-336002FB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190875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3553ED-33BA-4751-A332-832F3555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71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DD1E51-59DB-4EDD-B9EF-BA7088D8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2790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ИИ уже в контуре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3EE41B-EF32-4A99-88C8-D4529602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2790825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«Третье Мнение» формирует описание и DICOM SR. Клиника получает результат исследования во время приёма.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547571-C18E-4284-B7B2-F283B140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3190875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D484F4-3207-4AE3-B294-7C802C36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571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034642-3994-4D0C-B4ED-428AB53C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286000"/>
            <a:ext cx="2790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Следующий шаг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C53F47-AE3C-4CC3-BE8B-E42C90B0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86050"/>
            <a:ext cx="2790825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Его надо определить, утвердить, показать пациенту и довести до фактического действия.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F185CA-5ECA-4C05-9BB3-76A4B95E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333375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C49F6A-BA9E-4B5D-802B-2CA230E1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571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562359-B338-4EDE-AA23-CEEECEFD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860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Разрыв виден в данных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B3112C-D0A7-43D8-B53B-B660F443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86050"/>
            <a:ext cx="29337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В обзоре амбулаторных исследований доля результатов лучевой диагностики без follow-up менялась от 1,0% до 35,7%.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CE3215-17B9-4AC0-806B-A5A02A97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147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E09657-603D-4CD4-BC7C-405C4325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191000" y="32480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A8C049-4A42-4FCD-A93A-4D50096A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14700"/>
            <a:ext cx="3714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711872-F07F-47CE-8E27-9F7EC95C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010525" y="32480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4AA4BE-0047-447E-A96A-7FC84D17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9675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11 980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35AEBE-3B22-4B5A-8BED-3E3480AE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62525"/>
            <a:ext cx="885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пациентов с просроченным follow-up: в РКИ завершение за 120 дней составило 22,9% в обычном процессе и 31,4% при напоминании, outreach и навигации.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28ED02-989D-4D16-A831-E2C8B92B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53125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76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C76B50"/>
                </a:solidFill>
                <a:latin typeface="Helvetica Neue"/>
                <a:ea typeface="Helvetica Neue"/>
                <a:cs typeface="Helvetica Neue"/>
              </a:rPr>
              <a:t>Это данные других систем и популяций. Потери и эффект Patient pathway пока не измерены.</a:t>
            </a:r>
          </a:p>
        </p:txBody>
      </p:sp>
    </p:spTree>
    <p:extLst>
      <p:ext uri="{BB962C8B-B14F-4D97-AF65-F5344CB8AC3E}">
        <p14:creationId xmlns:p14="http://schemas.microsoft.com/office/powerpoint/2010/main" val="1421656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ECD69F-2035-4693-83EC-00C0EADC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РЕШЕНИЕ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387181-9224-4305-8890-9BFF36A3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Один следующий шаг после заключения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64081A-4138-4280-A381-C63D15FF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После результата создаётся новая связанная версия для следующего решения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9C514-266F-4391-BE98-1E05D152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F86CFB-B7A6-42B4-8030-99E01CC1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Patient pathway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720BD3-3C5F-4766-8656-F26BF135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ED85C-3E4C-4805-B4F3-6A68F189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209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154655-47E5-49D4-BBDA-A3E9BF3E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76450"/>
            <a:ext cx="2038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976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ВО ВРЕМЯ ПРИЁМА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E2B9DB-D342-4D73-B9EC-AD4B64D0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47662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150FE1-1E35-4F03-B685-A6E58602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314AA2-7886-42DB-8599-2A788909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1 · Разбор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99B2C-18BD-4DA2-A45C-660E991A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30765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Известные поля JSON / SR → общие факты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2AE8B0-B7F1-42E4-88A5-9F93630A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76500"/>
            <a:ext cx="347662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B26C0D-8D69-44B7-BD23-7B83288F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765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1A2D00-4E0C-45D1-B5B0-6A052279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67000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2 · CatBoost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913CEE-2941-4462-9B70-A0C649CD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67050"/>
            <a:ext cx="30765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Один шаг + вклад полей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57C98A-192C-48D3-B8F9-9BFDFBD2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76500"/>
            <a:ext cx="347662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680C2B-976B-4D8A-B75C-A26EEBB1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765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B9A23E-3FEA-4D1C-BECF-94EEBD36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3 · Решение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1C5A55-B031-4E84-A355-53D10155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67050"/>
            <a:ext cx="30765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Специалист подтверждает или правит с причиной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3BF10B-A445-4D3B-B51A-D0F71ECC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2000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E6F223-DDE3-41A7-9EDD-20621AAE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43375"/>
            <a:ext cx="1828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976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ПОСЛЕ ПРИЁМА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1A9539-770C-4B73-8647-BCD9F847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3476625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056BC4-47B4-4208-9582-11648D56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7B7E8F-34F1-49E0-891E-CED3D344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14875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4 · Публикация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6DAD6D-33E3-4B03-B9BC-47DE4622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14925"/>
            <a:ext cx="30765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Пациент видит лишь утверждённый шаг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12C0FB-C9D9-4530-A80A-E68E2B45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24375"/>
            <a:ext cx="3476625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DA019D-457E-40CC-80CD-BD591BA4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24375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40B3D1-D067-4D0B-9BE2-80DA34DA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714875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5 · Запись / анализ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33D3C6-8B20-4284-B958-C3D62F4D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114925"/>
            <a:ext cx="30765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Подготовку можно организовать параллельно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C28AB1-6358-4402-8CE7-0932A45F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24375"/>
            <a:ext cx="3476625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552D61-88FD-4EDE-BC93-03BA3210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24375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8565AE-1369-4924-95ED-EFA9D246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14875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6 · Новый цикл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B1E024-06D9-43C6-ACCA-FE28CFB7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14925"/>
            <a:ext cx="30765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После результата снова решает специалист</a:t>
            </a:r>
          </a:p>
        </p:txBody>
      </p:sp>
    </p:spTree>
    <p:extLst>
      <p:ext uri="{BB962C8B-B14F-4D97-AF65-F5344CB8AC3E}">
        <p14:creationId xmlns:p14="http://schemas.microsoft.com/office/powerpoint/2010/main" val="16995339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370A98-4688-4EEE-8CCF-BD56F839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АРХИТЕКТУРА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568E07-2DEE-424B-BECF-32002EAF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CatBoost предлагает следующий шаг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A9EDB-4755-403F-9BF6-E88E409F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Одна модель маршрута поверх двух форматов входа; решение специалиста остаётся обязательным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4F4459-2C8D-4C1A-835A-3F3658D0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EAAE1-BA3C-4BB5-A416-5EAEC149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Patient pathway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E1CFDB-20B2-488B-8958-2DDE643A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C092E2-81E9-42F1-996E-1F356ADE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514600" cy="24384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6A8540-D249-4388-BE10-57B70985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571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E35CFA-125C-4309-8839-77CFB420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9077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01 · Вход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2AAA2F-A125-4283-B2A6-2BF4DFBE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90825"/>
            <a:ext cx="21145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JSON и DICOM SR. Профиль клиники указывает путь к известным полям.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620DF4-C4DE-4D8F-95A9-651883A5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52800"/>
            <a:ext cx="57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45DD90-61CA-402A-93D8-4FD0A40A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171825" y="32861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446F05-B78D-462D-A413-83FFBE30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00275"/>
            <a:ext cx="2514600" cy="24384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995100-21DD-407E-AD0E-6D90CCD2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00275"/>
            <a:ext cx="571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2823DE-450F-4C96-8669-3D1E8F3E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9077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02 · Парсер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0E5DF6-E07E-4C29-8E74-FD824E54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90825"/>
            <a:ext cx="21145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Канонические признаки с точным указателем на поле заключения.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BE1B44-C8D9-4262-9800-F9F5CD82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52800"/>
            <a:ext cx="57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5026B7-9712-4BE8-B028-74A4537C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15025" y="32861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027F19-7DCE-49C5-A088-5DCB7580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0275"/>
            <a:ext cx="2514600" cy="24384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0306F8-E901-47F6-A9BC-A73BBB7F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0275"/>
            <a:ext cx="571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1190AC-2280-4AE1-B219-EE7386AB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9077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03 · CatBoost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AEC0C2-7A82-4C90-B0DC-BB439CBB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90825"/>
            <a:ext cx="21145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Обученная модель предлагает один класс следующего шага и вклад полей.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CB55B1-A9ED-40C6-AD1D-E990B3AC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52800"/>
            <a:ext cx="57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A4E291-188F-44D2-A7BD-127B30DD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658225" y="32861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CA8080-4387-4D2C-89F7-709BA42E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00275"/>
            <a:ext cx="2514600" cy="24384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1B2EC2-F8F4-4402-8C78-49DAC22B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00275"/>
            <a:ext cx="571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4F55C1-59DB-4CF1-9EE4-0D352DEE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9077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04 · Workflow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CBEAF8-DBC3-4A48-B1A4-6F46A380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90825"/>
            <a:ext cx="21145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Специалист правит или утверждает; затем кабинет, запись и новый цикл.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3AF6FB-612A-4010-99EE-EE873444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Почему CatBoost: табличные числовые и категориальные поля; сочетания находок; версия модели и проверяемое основание.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BB7063-609F-43AB-98AA-31CFA283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51530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3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B75834-E2CC-4F41-AADD-D8C22513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29300"/>
            <a:ext cx="4981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976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rPr>
              <a:t>СЕЙЧАС: 3 ПОЛЯ / 76 СИНТЕТИЧЕСКИХ КОМБИНАЦИЙ</a:t>
            </a:r>
          </a:p>
        </p:txBody>
      </p:sp>
    </p:spTree>
    <p:extLst>
      <p:ext uri="{BB962C8B-B14F-4D97-AF65-F5344CB8AC3E}">
        <p14:creationId xmlns:p14="http://schemas.microsoft.com/office/powerpoint/2010/main" val="10503553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5E63BF-6E9B-460C-9FF7-1A7F70F6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ПРОДУКТОВЫЕ ПРЕИМУЩЕСТВА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72F72-AE07-4603-BC19-D5271F58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Пять решений удерживают маршрут управляемым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A16BBE-D9E1-44B2-BD98-B2080D1D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Отличия нашего проекта сформулированы как проверяемые механизмы, а не как заявления о конкурентах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8E533-324A-4F3A-B259-18174EBE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6CE5C-FF1E-405B-95E2-204C86E7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Patient pathway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23325-20B2-4856-988E-79E797DB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0C109-BE1C-4837-9DC3-F0B28AC3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D3AF3-2EE5-44FF-AB25-B6EEA4C7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181EFC-4DEF-4707-BF27-9AA1F629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0002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Во время приёма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BB4C2-0384-452B-813C-85028558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907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Проект готов до ухода пациента и попадает в рабочее место специалиста.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B9690B-B694-46A9-B456-D34AE3D5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99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071182-D5F2-48DC-9C39-DC91AD90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DA118-0A02-4C14-988C-245B7077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7813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Один шаг за раз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3095D-3AC4-439F-B6CE-7804A558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7177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Новая связанная версия появляется после результата, когда выбор действительно можно пересмотреть.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860B99-8BC9-4282-909E-47C674C1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4F5C98-493A-4757-882D-E1F123C1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86FFF1-D82B-488E-8685-A03F3666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5623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Основание рядом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DE251A-4F98-4E4C-A0F6-13965CA9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5528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Специалист видит поля SR, их значения и вклад в предложение модели.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C6078F-2DC8-42F9-BE86-6CA78877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720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F3A020-F0CA-44EC-8B34-90B3DD74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CE0934-13B2-4C48-9D9A-45ECDA72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3434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34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Правка становится сигналом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F97057-6ABE-4D19-BDD5-8FD48EF7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33387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Решение действует сразу; после разметки оно улучшает следующую версию модели.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D0241B-CDDA-4C7A-ADCA-EE6C9DD4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531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38C9E6-8976-48D1-B807-9D0A04DE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3FC82E-3795-4C1C-BA71-378802FC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1244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Две стороны пути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0D6810-6163-4417-91A7-187734BF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1149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Кабинет пациента и подтверждённая запись дают измеримую воронку.</a:t>
            </a:r>
          </a:p>
        </p:txBody>
      </p:sp>
    </p:spTree>
    <p:extLst>
      <p:ext uri="{BB962C8B-B14F-4D97-AF65-F5344CB8AC3E}">
        <p14:creationId xmlns:p14="http://schemas.microsoft.com/office/powerpoint/2010/main" val="5178825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73D38ED-A841-4909-A6B5-2FDF15E2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БИЗНЕС-ПРОЦЕСС · ЧАСТЬ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18121-3944-407E-8AFC-FD69C27B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9025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BPMN: решение принимается до публикации пациенту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0DE35-54F4-402F-9ABB-8BDB4166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Полная BPMN 2.0 модель с участниками и сообщениями — отдельный файл workflow.bpmn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19AC85-BB05-410D-A8A1-62292447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968F1-77BF-49BE-A37E-F619F5CD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Patient pathway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97880-7DAD-49C5-89A1-B4002EE5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112487-39E0-40E7-9371-57591E57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54104E-4371-4846-AFA5-A9D5DAC8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ИИ / источник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EF2FC-5E3A-44F7-B92C-C361F155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209800"/>
            <a:ext cx="19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943BD7-9FE6-4685-9682-0279380D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972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38957-B1A7-4E49-933D-25E31C59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89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Patient pathway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CCCEB1-2B7F-4946-B806-3BCB9534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09925"/>
            <a:ext cx="19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B197A3-4A56-4876-A79A-3A896854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0972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771A7F-D967-4D14-B06E-7CC08A34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Специалист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DB4684-A544-4A08-B1FF-B45E1C42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10050"/>
            <a:ext cx="19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62DBED-0833-477F-A1CB-E76F442C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669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E5CF"/>
          </a:solidFill>
          <a:ln xmlns:a="http://schemas.openxmlformats.org/drawingml/2006/main" w="19050">
            <a:solidFill>
              <a:srgbClr val="24665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940135-02F8-43FE-9710-83C0D89E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76500"/>
            <a:ext cx="1171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SR готов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4F8EE2-880F-4DCB-BA83-74E1BF68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61937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0AAE7F-3BFD-4E70-9023-92734B9A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552950" y="255270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772D64-FE80-42F2-AA62-08BFAE44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43150"/>
            <a:ext cx="16954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6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A76838-D886-409B-88A8-8C55DE10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19350"/>
            <a:ext cx="1457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Передать JSON / SR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ADC6D4-5865-4B56-91A1-9C9B2E40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48075"/>
            <a:ext cx="2952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57C0EA-B78E-4519-A8C7-28089B61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171825" y="358140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F95795-00C2-40BB-BEC0-409A2CAA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480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D9DA52-4B03-4DB2-9764-A0F769DD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05425" y="358140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E7CD2A-E40E-48FC-B77B-93FD0D90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48075"/>
            <a:ext cx="390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E44134-62EF-4C3B-961B-E73FD91D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24750" y="358140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80A2A5-961F-43A3-8BAC-335F3255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48075"/>
            <a:ext cx="390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8AB62D-7D7B-4595-BD3C-9CB977C3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25000" y="358140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97FA09-8C95-485F-9AA6-42F2B48C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766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65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6A1103-CF28-4667-BAA7-4C036475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43275"/>
            <a:ext cx="161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65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48E6D2-59F8-4ECA-B25B-DD59DB6F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38525"/>
            <a:ext cx="139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451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Разбор по профилю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9755E7-6959-4C97-9D6C-CC39D91F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09950"/>
            <a:ext cx="504825" cy="504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19050">
            <a:solidFill>
              <a:srgbClr val="D6A35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D9598C-95BE-46F9-A79D-87F8D120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51472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6A3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6A352"/>
                </a:solidFill>
                <a:latin typeface="Helvetica Neue"/>
                <a:ea typeface="Helvetica Neue"/>
                <a:cs typeface="Helvetica Neue"/>
              </a:rPr>
              <a:t>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09DFB7-FBAA-4567-9D56-2D4DCC90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81375"/>
            <a:ext cx="1104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есть факты?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DDF973-B241-493C-80C2-846C31A2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43275"/>
            <a:ext cx="14954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65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684CA2-5AE2-4718-AF89-BD232134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429000"/>
            <a:ext cx="1304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600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Проект + trace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A80A2B-10BD-4681-800A-3F879B7F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343275"/>
            <a:ext cx="15335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65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7E3CFC-45FD-4603-A66F-DB550D6A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429000"/>
            <a:ext cx="1343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18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Получить решение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977874-11AC-48C2-881E-64A604AC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343400"/>
            <a:ext cx="17907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65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7E29D5-657A-46B7-BA5C-B27A6099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429125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941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Проверить основания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16C23A-5BA9-4752-BF1F-F40A8A57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638675"/>
            <a:ext cx="3714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4E92BF1-9383-4340-AE35-558F3409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20225" y="457200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D3C76C-13DA-4664-AF8A-7388B2B9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00550"/>
            <a:ext cx="495300" cy="495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19050">
            <a:solidFill>
              <a:srgbClr val="D6A35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7572FBC-2199-4032-975E-402FCCD3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514850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6A3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6A352"/>
                </a:solidFill>
                <a:latin typeface="Helvetica Neue"/>
                <a:ea typeface="Helvetica Neue"/>
                <a:cs typeface="Helvetica Neue"/>
              </a:rPr>
              <a:t>?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D9F676C-E8C7-4EA0-A7A1-FF0BD7FD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4333875"/>
            <a:ext cx="120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утвердить /</a:t>
            </a:r>
          </a:p>
          <a:p xmlns:a="http://schemas.openxmlformats.org/drawingml/2006/main">
            <a:pPr algn="l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исправить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4F996A4-4E4E-469B-B0E2-11F13F26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33825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F815B8F-0E89-4C66-BA92-CCE58DED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94335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CA77F4E-81DD-4622-ABB9-376DE302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37623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AE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EDE86F2-F87B-42D6-98F7-1BF0D432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86400"/>
            <a:ext cx="3590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976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rPr>
              <a:t>без подтверждения: пациенту не показывать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52C471F-2F98-4C21-A357-C6204648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400675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Исправление создаёт новую версию и снова проходит проверку.</a:t>
            </a:r>
          </a:p>
        </p:txBody>
      </p:sp>
    </p:spTree>
    <p:extLst>
      <p:ext uri="{BB962C8B-B14F-4D97-AF65-F5344CB8AC3E}">
        <p14:creationId xmlns:p14="http://schemas.microsoft.com/office/powerpoint/2010/main" val="6945016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458921-5719-4694-8B6A-DE7CA9C2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БИЗНЕС-ПРОЦЕСС · ЧАСТЬ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A7AB01-B121-4C11-9218-1DA64DF9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После приёма путь продолжается по результату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AAC0FC-0CD4-4991-A190-DAB8A994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Один шаг, подготовка и новый проект после результата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AE0CD-8829-4291-B0D5-CE803E77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1D4D7-80A5-45AC-B0D7-7F9FD357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Patient pathway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F16775-16E5-49BB-99CC-81E04296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707CA-2A3C-4610-9EB6-260C0FD2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847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38D6A9-39D6-420E-BE09-D71260A7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1543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Показ шага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D0274-BC11-45EE-A8F1-CF11F339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Только после</a:t>
            </a:r>
          </a:p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подтверждения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81BC02-95C5-4D77-AC09-8F1A0CA5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1432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A7D95B-38E4-4CE6-A09D-6BB00C88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09850" y="30765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014F0B-AF55-45B5-818B-8F0108EB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428875"/>
            <a:ext cx="1847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CC97EE-E975-4DA3-A3AD-70D68755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628900"/>
            <a:ext cx="1543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710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Выбор пациента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002232-6D18-430E-9DC0-F19F622D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171825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62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Записаться / отказаться</a:t>
            </a:r>
          </a:p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и вернуться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7931D0-FB9C-4A87-9223-B0937A1F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74E897-D4E5-450E-8B31-209E7217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810125" y="30765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F6AA7E-8936-47BC-9EA2-CFC43182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28875"/>
            <a:ext cx="1847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88CE3D-1306-4A1D-B05B-19507C92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28900"/>
            <a:ext cx="1543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971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Запись / анализ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0DABFA-3751-46AC-BC62-009EE02F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71825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80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Анализ до приёма</a:t>
            </a:r>
          </a:p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если нужен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65959E-E708-43D5-B74F-92A06B0D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1432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8401F6-DCBE-4AD0-9940-A637ABBA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010400" y="30765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211D2C-4DB3-4FFB-9A00-D1F97993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428875"/>
            <a:ext cx="1847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B17243-9FFC-4C25-B782-CCAA740F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628900"/>
            <a:ext cx="1543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21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Результат шага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8ECC3A-E142-4F34-AD91-6FA2A652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171825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0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Факт и заключение</a:t>
            </a:r>
          </a:p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по услуге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F2EC8D-F5A2-49A4-A6DE-63D702F2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432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52BC30-1C74-46F2-A9CE-C23C7572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210675" y="30765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6C4F5F-15F5-4BE0-81EC-FB4DD903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28875"/>
            <a:ext cx="1847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40C3CF-B1BC-40B6-A25F-D5D9B1E8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28900"/>
            <a:ext cx="1543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Новая версия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5EC6EB-C4C8-4E32-9A8E-5780954A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71825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Один новый шаг</a:t>
            </a:r>
          </a:p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или завершение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BB582C-D709-4FCE-9E4F-C99E7317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52578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6A35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167201-81EA-4778-94DD-4D4E5A06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76775"/>
            <a:ext cx="466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5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Ключевой барьер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322316-73C1-4BE0-9977-B68D4673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91100"/>
            <a:ext cx="4762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57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Следующий шаг появляется после результата и нового решения специалиста.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42EF6F-6D52-4964-8973-9612C689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24375"/>
            <a:ext cx="5486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ACC904-931C-494E-A313-8249A188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76775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5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Измеряемый след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2EF04A-EC71-472B-9DDE-4A3A9036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91100"/>
            <a:ext cx="5000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57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Показ → запрос → подтверждение → визит; отказ и возврат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8833052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87F114-86B7-49D0-BCBB-E9EA8F9D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КОНВЕРСИЯ И КОММУНИКАЦИЯ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3EA3E6-254E-4E6F-B92F-3D77AC80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65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Контакт с пациентом привязан к утверждённому маршруту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B5206-4475-49CD-8825-B911D90F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Два напоминания только при отсутствии записи; частоту и интервалы проверим в пилоте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9465AA-DCFD-4DF8-9B58-2163A1EC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B7654-6604-441E-B089-B897B863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Patient pathway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F5DAD-CB71-49A3-80BD-E250FBEE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0723C-89A5-4C1A-986A-9B1F0E76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3429000" cy="2200275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330EA6-2A57-4830-9CC2-A8326A09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57150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5C7BAF-E732-4F90-8308-1BDE32E1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0 ч · Кабинет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4DE0B1-8CFB-4064-8013-5B514CF9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30289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После решения специалиста видна плашка с одним шагом и доступным временем.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D44D09-B366-4E64-8897-E3CE377F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343275"/>
            <a:ext cx="104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3E6A7C-1B37-478F-9985-F194D8ED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152900" y="327660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18A3D2-B92B-4CE7-B16F-E6F2D821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66950"/>
            <a:ext cx="3429000" cy="2200275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BAFED9-45E5-4C3A-8E52-C6CF31DB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66950"/>
            <a:ext cx="57150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F1C5B7-4076-4D07-B68F-59D36C6A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574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+48 ч · SMS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10323B-4324-4674-A829-97CD6E75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0289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Если нет записи: нейтральное сообщение со ссылкой на кабинет.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B5D2FC-1C57-4846-B847-DFA402DE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43275"/>
            <a:ext cx="104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4C7777-629D-43CF-BADE-737A6A98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867650" y="327660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A26433-46F5-486A-8140-3B36F69B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3429000" cy="2200275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C88FD8-4702-4D4E-9992-400D2B09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57150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2BF88C-8081-4470-9677-6E0AE663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574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+72 ч · SMS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0B69AC-2A42-4DCB-9C5B-4DC37FD8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57500"/>
            <a:ext cx="30289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Ещё одно напоминание при отсутствии ответа; затем автоматическую цепочку остановить.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4FBC2E-9194-4F5D-8B87-8AD087CF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08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Доказательство канала: в РКИ по приглашению на маммографию SMS повысило явку с 59,1% до 64,4%.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757321-D415-41A4-A0B0-567E0858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53075"/>
            <a:ext cx="10744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6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76B50"/>
                </a:solidFill>
                <a:latin typeface="Helvetica Neue"/>
                <a:ea typeface="Helvetica Neue"/>
                <a:cs typeface="Helvetica Neue"/>
              </a:rPr>
              <a:t>Точные +48/+72 ч после заключения и эффект двух SMS для нашей записи не проверены. Это гипотеза A/B-пилота.</a:t>
            </a:r>
          </a:p>
        </p:txBody>
      </p:sp>
    </p:spTree>
    <p:extLst>
      <p:ext uri="{BB962C8B-B14F-4D97-AF65-F5344CB8AC3E}">
        <p14:creationId xmlns:p14="http://schemas.microsoft.com/office/powerpoint/2010/main" val="16809149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3436AA-4FCC-473E-A6D2-EB5D9CA5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ГОТОВНОСТЬ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F3EFD1-7885-435F-9A13-1E40FDFF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Работает синтетический сквозной прототип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E6CC9-CFF8-49A3-A6DF-86E4B34B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Проверяем поведение на воспроизводимых сценариях, не заявляя клиническую готовность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860E9-CA13-46EE-A59A-F287FDE0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34DE5-3B89-4D2E-BC66-746358A7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Patient pathway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DDE46E-168D-406B-8A24-06A7F77A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a3a5061c6a4f67"/>
          <a:srcRect xmlns:a="http://schemas.openxmlformats.org/drawingml/2006/main" l="0" t="12436" r="0" b="124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143125"/>
            <a:ext cx="6238875" cy="3619500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05A827-8F09-46B9-899C-DAEE6743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43125"/>
            <a:ext cx="43815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1F56B6-398F-4090-A910-956DDF37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8600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JSON + SR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9BEAA7-6E78-4C43-A3A0-CBCE723C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241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2 входных представления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0446B4-85CD-4E5A-8683-9E8CD67B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71850"/>
            <a:ext cx="43815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81CDAD-839E-4A0A-BEEE-4DF594E5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147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7 пар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0E22CE-4BE5-44CA-91ED-9BFC402B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528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синтетических заключений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B34282-527C-4ED2-9316-92C6ABC7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00575"/>
            <a:ext cx="43815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5299F6-38DE-4753-8BD6-8E44BD7A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74345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110 + 9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2D491B-6C33-4FF4-8093-975BAC6C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1816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backend и браузерных тестов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94A6C1-9EFA-41C2-87D3-453B3322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3352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3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80F790-0E9B-4F6D-9FC2-538F5E96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962650"/>
            <a:ext cx="3181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976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rPr>
              <a:t>HYPOTHESIS: маршрут модели</a:t>
            </a:r>
          </a:p>
        </p:txBody>
      </p:sp>
    </p:spTree>
    <p:extLst>
      <p:ext uri="{BB962C8B-B14F-4D97-AF65-F5344CB8AC3E}">
        <p14:creationId xmlns:p14="http://schemas.microsoft.com/office/powerpoint/2010/main" val="12860565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4908FE-0BBC-4195-BED5-42AD6609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РЫНОК И БИЗНЕС-МОДЕЛЬ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8E1C60-431F-4F2D-AF0D-FEA53A20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Клиника — покупатель и партнёр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11EA12-F0F5-4FA2-8E21-A9C57B94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Мы встраиваемся между поставщиком заключения, специалистом и системой записи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865088-7E41-464F-A05A-72E4D2E5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51E9F-C3EB-42F4-9D03-E1F3B2CF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Patient pathway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4E085-2841-4BEC-9C91-10DAB038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F3BE69-20A0-45DA-AC7A-565EBCD8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19275"/>
            <a:ext cx="10934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«Третье Мнение»: 10 млн обработанных исследований и 58 регионов по данным компании. Это показатель партнёра, не размер нашего рынка.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289F8-CB80-4CBC-B4C5-3F8996D5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2543175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7C953-3651-486F-896E-3AD17491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0600C3-856F-4409-AEB1-847CEA6B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ИИ диагностики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44F74D-BEF4-487C-AFB2-69B3FA34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21431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Готовое описание и SR. Поставщик может развивать маршрутизацию.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3B505C-5B40-4A15-8711-7A66F5EA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09800"/>
            <a:ext cx="2543175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AC2932-5FD8-4FEB-9E43-CF9FF7A9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0980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40061F-5294-4D53-AF12-B9070312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4003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МИС / запись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7D49B2-F031-4CC4-92E4-7218A200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800350"/>
            <a:ext cx="21431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Расписание, слоты, коммуникации и факт услуги.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584A29-1EEA-48E7-8B7C-B27B1D51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09800"/>
            <a:ext cx="2543175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AFB697-C3D0-4E3C-BF64-56BDF524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0980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6B5024-C874-47FC-9159-AB3244DA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CDS / аналитика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B606F3-F6A4-47FC-B1C2-394D3EAC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0350"/>
            <a:ext cx="21431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Поддержка решений на широких данных пациента.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17F485-0983-4BB0-9D26-9206B4D0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209800"/>
            <a:ext cx="2543175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9C805B-D78C-4220-A4C9-5AB116A6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20980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F5ACA0-7BF6-4D16-8F64-9958AE9E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4003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Patient pathway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91955D-96A8-4449-9F6B-99091DFA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800350"/>
            <a:ext cx="21431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Исполнение маршрута из SR: версии, решение, запись, результат.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C2ADDA-115F-4A3A-9A06-B48F027A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5257800" cy="1038225"/>
          </a:xfrm>
          <a:prstGeom xmlns:a="http://schemas.openxmlformats.org/drawingml/2006/main" prst="roundRect">
            <a:avLst>
              <a:gd name="adj" fmla="val 110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586A05-1637-43D8-BD5F-03FD557E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815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Частная клиника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FE43CA-328E-4630-9631-91AD386E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05425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69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Настройка + абонентская плата; эффект — запись и визит.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02E973-2576-461B-B180-E76C417F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48225"/>
            <a:ext cx="5486400" cy="1038225"/>
          </a:xfrm>
          <a:prstGeom xmlns:a="http://schemas.openxmlformats.org/drawingml/2006/main" prst="roundRect">
            <a:avLst>
              <a:gd name="adj" fmla="val 110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234F96-F48C-4FEA-8358-276837A9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8157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Государственная клиника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E6B789-5879-4ECC-8DD2-94C3ADF3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05425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Внедрение + сопровождение; эффект — завершение пути и время.</a:t>
            </a:r>
          </a:p>
        </p:txBody>
      </p:sp>
    </p:spTree>
    <p:extLst>
      <p:ext uri="{BB962C8B-B14F-4D97-AF65-F5344CB8AC3E}">
        <p14:creationId xmlns:p14="http://schemas.microsoft.com/office/powerpoint/2010/main" val="18290840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35B0D2-1D6F-4A4A-86C4-29AC9C03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UNIT-ЭКОНОМИКА · СЦЕНАРИЙ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4C36F-6957-4927-892E-337B8415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Экономика зависит от измеренного эффекта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B9476-40DB-45A0-80DE-677704A9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Иллюстрация на одну частную площадку в месяц; цены и uplift пока не подтверждены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38DE2-F111-4496-B3D2-F053B4F8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78B737-EDD8-4A57-ACAC-8478CC06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Patient pathway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A78C1-55CC-4A04-B918-7F933AE3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E4DE9-9948-4798-8D42-20DBCEDC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543175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5AE318-B125-42BF-80A7-2CC79510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800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E32A0-CEAC-489B-B6F0-11D87AE5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подходящих SR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0F359D-0341-4FBF-98E1-C54EEA3B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14550"/>
            <a:ext cx="2543175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020F0D-B709-458F-B1FC-6EF5E795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2669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+3 п.п.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C3B0EE-1522-4E50-AB58-344785EA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705100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гипотетический uplift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5CA454-1637-4C89-951A-7E3CAEF6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14550"/>
            <a:ext cx="2543175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400914-450B-410E-BB87-5DDBA7C3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80%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D2FA24-720C-4229-967E-876264A2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дошли до визита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F7742A-03D6-41A8-8A3C-D8B1A133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14550"/>
            <a:ext cx="2543175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29FD8A-928D-4BF9-A063-15891870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669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2 500 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CF4D3B-0B64-47C7-B157-279269B5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05100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вклад визита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5DA077-0561-47DA-AF96-60711511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800 × 3% × 80% × 2 500 ₽  =  48 000 ₽ / мес.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732E3C-4FF2-4F53-8F74-A5FB885F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43400"/>
            <a:ext cx="10525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При условной плате 30 000 ₽: порог для клиники = 1,875 п.п.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0281AD-46FB-485B-A2B9-21915BC9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967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+1 п.п.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8398B3-9E14-40B5-8C95-F728F9D4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161749-7484-4B36-8EB5-FFA17532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00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16 тыс. 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A7861C-902A-4F2D-A137-C587988D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530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+3 п.п.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B1B5EB-E837-4B14-861F-6D1D4CBB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391150"/>
            <a:ext cx="3543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D6D40D-E798-42E7-8D0D-EB6D2F51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334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48 тыс. 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ABF80A-7696-489D-B1C3-7C70FCB9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864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+5 п.п.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856C96-134B-492F-A339-9EB30725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724525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7CE25B-ADED-44C2-A157-F7476386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673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80 тыс. ₽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FDF9D9-20BA-41E5-A2FC-5C968209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6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6B50"/>
                </a:solidFill>
                <a:latin typeface="Helvetica Neue"/>
                <a:ea typeface="Helvetica Neue"/>
                <a:cs typeface="Helvetica Neue"/>
              </a:rPr>
              <a:t>Без стоимости интеграции, загрузки врача, отмен и ограничений ёмкости.</a:t>
            </a:r>
          </a:p>
        </p:txBody>
      </p:sp>
    </p:spTree>
    <p:extLst>
      <p:ext uri="{BB962C8B-B14F-4D97-AF65-F5344CB8AC3E}">
        <p14:creationId xmlns:p14="http://schemas.microsoft.com/office/powerpoint/2010/main" val="11524753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506346B-A2A2-4B38-BFD1-53260CF9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ДОРОЖНАЯ КАРТА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D489C3-F358-4CD3-962E-2C45799D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От прототипа к клиническому пилоту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BF31A-763C-4B15-9659-09B745CE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Каждый этап открывается только после проверки предыдущего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DAD9D-A3DF-4CCA-8D8F-961457BF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F8073-F988-4A5C-A6F4-8F9AF855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Patient pathway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6030E-2052-4BF5-8770-BDE6C5FE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E7BAC-5A65-46EB-AFF6-786A34D8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2000250" cy="27813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BE1DAC-46F5-4653-8ADC-9C794483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381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9E908-E696-4F13-9F5D-A863D5B6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562225"/>
            <a:ext cx="209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3526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07314-2578-49A7-80D4-119657D7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62275"/>
            <a:ext cx="1685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MVP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5A92E4-BF0A-447B-AFF8-49B08DDD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16859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Синтетика, CatBoost, два контура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CF3877-005B-405A-B0C6-096B1742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69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A4B9B5-CD5F-47F6-A1E8-6242B338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Выполнено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A6960D-3A52-45C9-B8DE-3A46062F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733800"/>
            <a:ext cx="47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CE8B26-97F0-4608-A7E6-444C5C21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47950" y="36671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A501E8-0C44-4A22-B09B-3C3D02B7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52675"/>
            <a:ext cx="2000250" cy="27813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D9BA27-DA51-409F-9E02-F3AAEEEA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524125"/>
            <a:ext cx="381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CAB39B-4B74-4AB9-A742-F5A00C88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62225"/>
            <a:ext cx="209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3526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DD4B59-1258-40D8-BB22-5C3E984C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962275"/>
            <a:ext cx="1685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Данные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63E9C8-8731-4DED-8D77-D74C2E29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438525"/>
            <a:ext cx="16859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SR, коды услуг, экспертные метки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4F7020-F43E-493E-ABD5-5A88E1AD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667250"/>
            <a:ext cx="169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9C44EC-1F0A-4F25-90EE-9BDEA78B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772025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rPr>
              <a:t>Согласовать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3B9210-F461-4C7C-BCC4-62B34CEA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733800"/>
            <a:ext cx="47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998ECD-96B5-4230-A25F-732A496C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867275" y="36671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55C512-4EB7-4C24-9649-E51007B5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52675"/>
            <a:ext cx="2000250" cy="27813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1229F2-6B68-42CE-BB69-6CCE5CA6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24125"/>
            <a:ext cx="381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0AB5C3-C568-4945-ADE6-C0E907A4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562225"/>
            <a:ext cx="209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3526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41BBA1-8DCC-4733-895F-0D5FC931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62275"/>
            <a:ext cx="1685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38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Теневой режим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9F181F-F465-472A-9411-11956ED3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438525"/>
            <a:ext cx="16859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Согласие врача, ошибки и время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465ABF-4E63-4568-9331-D7FF511B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0"/>
            <a:ext cx="169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0629FF-DAFA-49F1-B8F6-54132583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772025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rPr>
              <a:t>Измерить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ED06CF-6306-4E00-BC33-AC349935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33800"/>
            <a:ext cx="47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F4404A-763D-4693-AC69-409D715D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086600" y="36671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437F9E-B8F1-445E-91F6-812EA2F5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352675"/>
            <a:ext cx="2000250" cy="27813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F84CCA-8509-435D-9471-A271697E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524125"/>
            <a:ext cx="381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A1CD35-FFAA-4F2F-B81D-A7D41C4B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62225"/>
            <a:ext cx="209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3526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61BA89-5AD8-4F88-975D-94B855A8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962275"/>
            <a:ext cx="1685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Пилот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491374-A0B4-4D43-B28B-D34B86FF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438525"/>
            <a:ext cx="16859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Запись, SMS A/B, контрольная группа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9B6972-CF70-45D1-BF67-EC161A1F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667250"/>
            <a:ext cx="169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3656BD-95F1-4E37-B477-F675AB07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772025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rPr>
              <a:t>Проверить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C1B3DC-5AEF-4725-86E3-201655EF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33800"/>
            <a:ext cx="47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9F8025-180D-4BC7-96F1-3935961B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05925" y="36671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8A5377-C876-4F0C-8454-DA0EAD1F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52675"/>
            <a:ext cx="2000250" cy="27813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6F8DA00-D2B7-4B15-B2B8-D53F06E3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24125"/>
            <a:ext cx="381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19645E-DF8E-49C9-BBA7-C7BA8567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562225"/>
            <a:ext cx="209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3526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446A8B-0C1F-4FBD-AEED-BC745DD7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62275"/>
            <a:ext cx="1685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Масштаб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066280F-88CE-416B-B06D-83C56875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38525"/>
            <a:ext cx="16859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Новые профили и типы учреждений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6E372C-7A78-40C1-93B2-6BE0C890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67250"/>
            <a:ext cx="169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5B3A1D0-6D19-47F5-A153-3208826B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772025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rPr>
              <a:t>Повторить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81BA9DB-2F89-47DF-AB04-A27512FE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Гейт пилота: клиническая разметка, статус записи, права доступа, контрольная группа и метод оценки uplift.</a:t>
            </a:r>
          </a:p>
        </p:txBody>
      </p:sp>
    </p:spTree>
    <p:extLst>
      <p:ext uri="{BB962C8B-B14F-4D97-AF65-F5344CB8AC3E}">
        <p14:creationId xmlns:p14="http://schemas.microsoft.com/office/powerpoint/2010/main" val="21246271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B3ED09-41A2-4D0F-8F84-B9120177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КОМАНДА · РИСКИ · ЗАПРОС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AE3EF-4C7B-49DB-AE89-BC2697FB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Следующий шаг — совместная проверка в клинике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89EDF9-EBB2-43A9-8EF2-8DD09DA4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Состав команды по ролям; имена и подтверждённый опыт заполняются после согласования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E518B7-48A0-48BD-BA76-42A77764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24D664-CA64-47A8-B735-9E7E8A62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Patient pathway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40E113-FF6A-4984-BBA8-031D7AAF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D5DD14-E464-4907-936A-8DA08E0D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54317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1249D-49AB-4956-BA5C-6F8BDFB0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Клинический эксперт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09371-499A-4FBE-ABC1-DD953421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00275"/>
            <a:ext cx="254317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A7BEE-DFCF-43EF-A12E-7A243AA3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36220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Backend / интеграции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209925-155E-4471-817D-799C8058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00275"/>
            <a:ext cx="254317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5582B4-655B-4094-8FAF-93FF14A3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6220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Product / UX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A7811A-E50D-4B7A-9EA3-A0AAB784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200275"/>
            <a:ext cx="254317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CE1D3D-209E-4459-9FEB-A50C4372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6220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Аналитика / PM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A68BE2-4AB9-4B7D-BE8E-73ECCFA6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2578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D7413E-AB8A-43C1-8C9F-F88DD482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997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Риски для пилота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521B1A-55C4-443F-B206-F6430C98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29075"/>
            <a:ext cx="4857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• Модель не прошла клиническую проверку</a:t>
            </a:r>
          </a:p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• SR может прийти после завершения приёма</a:t>
            </a:r>
          </a:p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• Реальные статусы записи неизвестны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4469F8-A30B-46C9-8B1B-9EE69E1A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54864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B7536B-02D8-428C-B396-01DF256B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09975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Что нужно от партнёра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C1BA3A-3920-4030-956A-49EF45E2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29075"/>
            <a:ext cx="5048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• Примеры JSON / SR и экспертные метки</a:t>
            </a:r>
          </a:p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• Каталог услуг и тестовый контур записи</a:t>
            </a:r>
          </a:p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• Согласие на пилотную оценку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052B1C-5535-4555-B4BF-8C214468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85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439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Сегодня мы доказываем исполнимость процесса на синтетике. Следом проверим клиническую пригодность и реальный эффект.</a:t>
            </a:r>
          </a:p>
        </p:txBody>
      </p:sp>
    </p:spTree>
    <p:extLst>
      <p:ext uri="{BB962C8B-B14F-4D97-AF65-F5344CB8AC3E}">
        <p14:creationId xmlns:p14="http://schemas.microsoft.com/office/powerpoint/2010/main" val="13795022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2026-10-04T23:39:14.3770000Z</dcterms:created>
  <dcterms:modified xsi:type="dcterms:W3CDTF">2026-10-04T23:39:14.3770000Z</dcterms:modified>
</coreProperties>
</file>